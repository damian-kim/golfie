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a613681fed4694" /><Relationship Type="http://schemas.openxmlformats.org/officeDocument/2006/relationships/extended-properties" Target="/docProps/app.xml" Id="R7d88d26155f54b86" /><Relationship Type="http://schemas.openxmlformats.org/officeDocument/2006/relationships/officeDocument" Target="/ppt/presentation.xml" Id="R5ddb42a7b7c549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511780e5e04c5e"/>
  </p:sldMasterIdLst>
  <p:notesMasterIdLst>
    <p:notesMasterId xmlns:r="http://schemas.openxmlformats.org/officeDocument/2006/relationships" r:id="R579941c1022a4571"/>
  </p:notesMasterIdLst>
  <p:sldIdLst>
    <p:sldId xmlns:r="http://schemas.openxmlformats.org/officeDocument/2006/relationships" id="256" r:id="R70561cc3dac14542"/>
    <p:sldId xmlns:r="http://schemas.openxmlformats.org/officeDocument/2006/relationships" id="257" r:id="R056e9c3ae3c14327"/>
    <p:sldId xmlns:r="http://schemas.openxmlformats.org/officeDocument/2006/relationships" id="258" r:id="Rfcb2f843d1d24b4d"/>
    <p:sldId xmlns:r="http://schemas.openxmlformats.org/officeDocument/2006/relationships" id="259" r:id="Rffd6dbfd1c5746b3"/>
    <p:sldId xmlns:r="http://schemas.openxmlformats.org/officeDocument/2006/relationships" id="260" r:id="R1f687b81ae1e476a"/>
    <p:sldId xmlns:r="http://schemas.openxmlformats.org/officeDocument/2006/relationships" id="261" r:id="Rde9f7990fe2b4ddb"/>
    <p:sldId xmlns:r="http://schemas.openxmlformats.org/officeDocument/2006/relationships" id="262" r:id="Rde1f268e986040ba"/>
    <p:sldId xmlns:r="http://schemas.openxmlformats.org/officeDocument/2006/relationships" id="263" r:id="Rc5fdcfc16efc499e"/>
    <p:sldId xmlns:r="http://schemas.openxmlformats.org/officeDocument/2006/relationships" id="264" r:id="R0894b6037d85472d"/>
    <p:sldId xmlns:r="http://schemas.openxmlformats.org/officeDocument/2006/relationships" id="265" r:id="Rb288d1d00c9c48fc"/>
    <p:sldId xmlns:r="http://schemas.openxmlformats.org/officeDocument/2006/relationships" id="266" r:id="R8b8f9bcfc36348f5"/>
    <p:sldId xmlns:r="http://schemas.openxmlformats.org/officeDocument/2006/relationships" id="267" r:id="R205fd9fb51ae42ef"/>
    <p:sldId xmlns:r="http://schemas.openxmlformats.org/officeDocument/2006/relationships" id="268" r:id="Rdac7409d45544436"/>
    <p:sldId xmlns:r="http://schemas.openxmlformats.org/officeDocument/2006/relationships" id="269" r:id="Rd8ced030a3744dcd"/>
    <p:sldId xmlns:r="http://schemas.openxmlformats.org/officeDocument/2006/relationships" id="270" r:id="R865c1d26fe214b35"/>
    <p:sldId xmlns:r="http://schemas.openxmlformats.org/officeDocument/2006/relationships" id="271" r:id="R8ed96cf39093433a"/>
    <p:sldId xmlns:r="http://schemas.openxmlformats.org/officeDocument/2006/relationships" id="272" r:id="R1f2b9ee681fc4799"/>
    <p:sldId xmlns:r="http://schemas.openxmlformats.org/officeDocument/2006/relationships" id="273" r:id="Rf2b755eb745c4674"/>
    <p:sldId xmlns:r="http://schemas.openxmlformats.org/officeDocument/2006/relationships" id="274" r:id="Ra778ccb1d32346e9"/>
    <p:sldId xmlns:r="http://schemas.openxmlformats.org/officeDocument/2006/relationships" id="275" r:id="R179a501931b944c3"/>
    <p:sldId xmlns:r="http://schemas.openxmlformats.org/officeDocument/2006/relationships" id="276" r:id="Rf9e3f1f522204a5d"/>
    <p:sldId xmlns:r="http://schemas.openxmlformats.org/officeDocument/2006/relationships" id="277" r:id="Rd440bb8493794d02"/>
    <p:sldId xmlns:r="http://schemas.openxmlformats.org/officeDocument/2006/relationships" id="278" r:id="R6f987d27a3ad4e1b"/>
    <p:sldId xmlns:r="http://schemas.openxmlformats.org/officeDocument/2006/relationships" id="279" r:id="Ra073644b91a34991"/>
    <p:sldId xmlns:r="http://schemas.openxmlformats.org/officeDocument/2006/relationships" id="280" r:id="R82b2bb3cb1544f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3b639da9814574" /><Relationship Type="http://schemas.openxmlformats.org/officeDocument/2006/relationships/slideMaster" Target="/ppt/slideMasters/slideMaster1.xml" Id="Rce511780e5e04c5e" /><Relationship Type="http://schemas.openxmlformats.org/officeDocument/2006/relationships/notesMaster" Target="/ppt/notesMasters/notesMaster1.xml" Id="R579941c1022a4571" /><Relationship Type="http://schemas.openxmlformats.org/officeDocument/2006/relationships/presProps" Target="/ppt/presProps.xml" Id="Rb55b769b12034b1a" /><Relationship Type="http://schemas.openxmlformats.org/officeDocument/2006/relationships/tableStyles" Target="/ppt/tableStyles.xml" Id="Ra8c583d282dd4960" /><Relationship Type="http://schemas.openxmlformats.org/officeDocument/2006/relationships/slide" Target="/ppt/slides/slide1.xml" Id="R70561cc3dac14542" /><Relationship Type="http://schemas.openxmlformats.org/officeDocument/2006/relationships/slide" Target="/ppt/slides/slide2.xml" Id="R056e9c3ae3c14327" /><Relationship Type="http://schemas.openxmlformats.org/officeDocument/2006/relationships/slide" Target="/ppt/slides/slide3.xml" Id="Rfcb2f843d1d24b4d" /><Relationship Type="http://schemas.openxmlformats.org/officeDocument/2006/relationships/slide" Target="/ppt/slides/slide4.xml" Id="Rffd6dbfd1c5746b3" /><Relationship Type="http://schemas.openxmlformats.org/officeDocument/2006/relationships/slide" Target="/ppt/slides/slide5.xml" Id="R1f687b81ae1e476a" /><Relationship Type="http://schemas.openxmlformats.org/officeDocument/2006/relationships/slide" Target="/ppt/slides/slide6.xml" Id="Rde9f7990fe2b4ddb" /><Relationship Type="http://schemas.openxmlformats.org/officeDocument/2006/relationships/slide" Target="/ppt/slides/slide7.xml" Id="Rde1f268e986040ba" /><Relationship Type="http://schemas.openxmlformats.org/officeDocument/2006/relationships/slide" Target="/ppt/slides/slide8.xml" Id="Rc5fdcfc16efc499e" /><Relationship Type="http://schemas.openxmlformats.org/officeDocument/2006/relationships/slide" Target="/ppt/slides/slide9.xml" Id="R0894b6037d85472d" /><Relationship Type="http://schemas.openxmlformats.org/officeDocument/2006/relationships/slide" Target="/ppt/slides/slide10.xml" Id="Rb288d1d00c9c48fc" /><Relationship Type="http://schemas.openxmlformats.org/officeDocument/2006/relationships/slide" Target="/ppt/slides/slide11.xml" Id="R8b8f9bcfc36348f5" /><Relationship Type="http://schemas.openxmlformats.org/officeDocument/2006/relationships/slide" Target="/ppt/slides/slide12.xml" Id="R205fd9fb51ae42ef" /><Relationship Type="http://schemas.openxmlformats.org/officeDocument/2006/relationships/slide" Target="/ppt/slides/slide13.xml" Id="Rdac7409d45544436" /><Relationship Type="http://schemas.openxmlformats.org/officeDocument/2006/relationships/slide" Target="/ppt/slides/slide14.xml" Id="Rd8ced030a3744dcd" /><Relationship Type="http://schemas.openxmlformats.org/officeDocument/2006/relationships/slide" Target="/ppt/slides/slide15.xml" Id="R865c1d26fe214b35" /><Relationship Type="http://schemas.openxmlformats.org/officeDocument/2006/relationships/slide" Target="/ppt/slides/slide16.xml" Id="R8ed96cf39093433a" /><Relationship Type="http://schemas.openxmlformats.org/officeDocument/2006/relationships/slide" Target="/ppt/slides/slide17.xml" Id="R1f2b9ee681fc4799" /><Relationship Type="http://schemas.openxmlformats.org/officeDocument/2006/relationships/slide" Target="/ppt/slides/slide18.xml" Id="Rf2b755eb745c4674" /><Relationship Type="http://schemas.openxmlformats.org/officeDocument/2006/relationships/slide" Target="/ppt/slides/slide19.xml" Id="Ra778ccb1d32346e9" /><Relationship Type="http://schemas.openxmlformats.org/officeDocument/2006/relationships/slide" Target="/ppt/slides/slide20.xml" Id="R179a501931b944c3" /><Relationship Type="http://schemas.openxmlformats.org/officeDocument/2006/relationships/slide" Target="/ppt/slides/slide21.xml" Id="Rf9e3f1f522204a5d" /><Relationship Type="http://schemas.openxmlformats.org/officeDocument/2006/relationships/slide" Target="/ppt/slides/slide22.xml" Id="Rd440bb8493794d02" /><Relationship Type="http://schemas.openxmlformats.org/officeDocument/2006/relationships/slide" Target="/ppt/slides/slide23.xml" Id="R6f987d27a3ad4e1b" /><Relationship Type="http://schemas.openxmlformats.org/officeDocument/2006/relationships/slide" Target="/ppt/slides/slide24.xml" Id="Ra073644b91a34991" /><Relationship Type="http://schemas.openxmlformats.org/officeDocument/2006/relationships/slide" Target="/ppt/slides/slide25.xml" Id="R82b2bb3cb154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d2849950054b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86e5fe71714de2" /><Relationship Type="http://schemas.openxmlformats.org/officeDocument/2006/relationships/notesMaster" Target="/ppt/notesMasters/notesMaster1.xml" Id="Rded1125888e648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be5e4cef9f4c1a" /><Relationship Type="http://schemas.openxmlformats.org/officeDocument/2006/relationships/notesMaster" Target="/ppt/notesMasters/notesMaster1.xml" Id="R25af0ac4971d4c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a03dd51b7b4fe2" /><Relationship Type="http://schemas.openxmlformats.org/officeDocument/2006/relationships/notesMaster" Target="/ppt/notesMasters/notesMaster1.xml" Id="R4f189f4097e148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cc5ec9124b4334" /><Relationship Type="http://schemas.openxmlformats.org/officeDocument/2006/relationships/notesMaster" Target="/ppt/notesMasters/notesMaster1.xml" Id="R2a48fdea3b2b49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334164a2ae47a6" /><Relationship Type="http://schemas.openxmlformats.org/officeDocument/2006/relationships/notesMaster" Target="/ppt/notesMasters/notesMaster1.xml" Id="R62147822e90d4b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525894bdf642b1" /><Relationship Type="http://schemas.openxmlformats.org/officeDocument/2006/relationships/notesMaster" Target="/ppt/notesMasters/notesMaster1.xml" Id="Rd0c88231cbe842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90048d6d544515" /><Relationship Type="http://schemas.openxmlformats.org/officeDocument/2006/relationships/notesMaster" Target="/ppt/notesMasters/notesMaster1.xml" Id="Rb6d021ad09714c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1f363586734e11" /><Relationship Type="http://schemas.openxmlformats.org/officeDocument/2006/relationships/notesMaster" Target="/ppt/notesMasters/notesMaster1.xml" Id="Rde4cddde2def47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3a7d83d8a345c5" /><Relationship Type="http://schemas.openxmlformats.org/officeDocument/2006/relationships/notesMaster" Target="/ppt/notesMasters/notesMaster1.xml" Id="Rd8f2333878da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202aba12b14ca6" /><Relationship Type="http://schemas.openxmlformats.org/officeDocument/2006/relationships/notesMaster" Target="/ppt/notesMasters/notesMaster1.xml" Id="R0f64cc216c474b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59c7fd26b94a58" /><Relationship Type="http://schemas.openxmlformats.org/officeDocument/2006/relationships/notesMaster" Target="/ppt/notesMasters/notesMaster1.xml" Id="R07760a81152344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52f4fc2ffe4bb2" /><Relationship Type="http://schemas.openxmlformats.org/officeDocument/2006/relationships/notesMaster" Target="/ppt/notesMasters/notesMaster1.xml" Id="R5782a42c42724f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ebb5e2d6344c99" /><Relationship Type="http://schemas.openxmlformats.org/officeDocument/2006/relationships/notesMaster" Target="/ppt/notesMasters/notesMaster1.xml" Id="R6a7ecf0e238b41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06af04e7474b7d" /><Relationship Type="http://schemas.openxmlformats.org/officeDocument/2006/relationships/notesMaster" Target="/ppt/notesMasters/notesMaster1.xml" Id="R351676fe0e1e4f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1804f598834395" /><Relationship Type="http://schemas.openxmlformats.org/officeDocument/2006/relationships/notesMaster" Target="/ppt/notesMasters/notesMaster1.xml" Id="R024b48fe28844a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4f98108f2f4e1c" /><Relationship Type="http://schemas.openxmlformats.org/officeDocument/2006/relationships/notesMaster" Target="/ppt/notesMasters/notesMaster1.xml" Id="R68439b84f15948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c8ecc643284bb8" /><Relationship Type="http://schemas.openxmlformats.org/officeDocument/2006/relationships/notesMaster" Target="/ppt/notesMasters/notesMaster1.xml" Id="R4fa89d10149b43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d834b86d05466f" /><Relationship Type="http://schemas.openxmlformats.org/officeDocument/2006/relationships/notesMaster" Target="/ppt/notesMasters/notesMaster1.xml" Id="Re308840d53aa44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383e1ae84d4214" /><Relationship Type="http://schemas.openxmlformats.org/officeDocument/2006/relationships/notesMaster" Target="/ppt/notesMasters/notesMaster1.xml" Id="R82db8ea2481d45b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8fecb1fbf741a4" /><Relationship Type="http://schemas.openxmlformats.org/officeDocument/2006/relationships/notesMaster" Target="/ppt/notesMasters/notesMaster1.xml" Id="Rd473974b80314d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e451d088014230" /><Relationship Type="http://schemas.openxmlformats.org/officeDocument/2006/relationships/notesMaster" Target="/ppt/notesMasters/notesMaster1.xml" Id="R3ac543effe9243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bc7165a8b844b2" /><Relationship Type="http://schemas.openxmlformats.org/officeDocument/2006/relationships/notesMaster" Target="/ppt/notesMasters/notesMaster1.xml" Id="R130d94caf3b846e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32463102c44104" /><Relationship Type="http://schemas.openxmlformats.org/officeDocument/2006/relationships/notesMaster" Target="/ppt/notesMasters/notesMaster1.xml" Id="R74610f7293ff486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26922180ae4752" /><Relationship Type="http://schemas.openxmlformats.org/officeDocument/2006/relationships/notesMaster" Target="/ppt/notesMasters/notesMaster1.xml" Id="R1fbd548dee2c4a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bc5e774e4db49ff" /><Relationship Type="http://schemas.openxmlformats.org/officeDocument/2006/relationships/notesMaster" Target="/ppt/notesMasters/notesMaster1.xml" Id="R7ab4b8185eaa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f97d626b142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cefbb099f4ab1" /><Relationship Type="http://schemas.openxmlformats.org/officeDocument/2006/relationships/slideLayout" Target="/ppt/slideLayouts/slideLayout1.xml" Id="R54dee79ba1ea48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dee79ba1ea48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c0f88cb5e481d" /><Relationship Type="http://schemas.openxmlformats.org/officeDocument/2006/relationships/image" Target="/ppt/media/image.png" Id="R4941589ade044b4f" /><Relationship Type="http://schemas.openxmlformats.org/officeDocument/2006/relationships/image" Target="/ppt/media/image2.png" Id="R24e603bd48c74500" /><Relationship Type="http://schemas.openxmlformats.org/officeDocument/2006/relationships/notesSlide" Target="/ppt/notesSlides/notesSlide1.xml" Id="R380d6bd3f4784d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e46429e784c6a" /><Relationship Type="http://schemas.openxmlformats.org/officeDocument/2006/relationships/notesSlide" Target="/ppt/notesSlides/notesSlide2.xml" Id="R05ec5200bd4e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8ee3ba92a4c54" /><Relationship Type="http://schemas.openxmlformats.org/officeDocument/2006/relationships/notesSlide" Target="/ppt/notesSlides/notesSlide3.xml" Id="R5b8ebd132f9041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c760ef7354fad" /><Relationship Type="http://schemas.openxmlformats.org/officeDocument/2006/relationships/notesSlide" Target="/ppt/notesSlides/notesSlide4.xml" Id="R5395825f563d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9f8998f6c4af1" /><Relationship Type="http://schemas.openxmlformats.org/officeDocument/2006/relationships/notesSlide" Target="/ppt/notesSlides/notesSlide5.xml" Id="R5c431d63584446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bb866a557466f" /><Relationship Type="http://schemas.openxmlformats.org/officeDocument/2006/relationships/notesSlide" Target="/ppt/notesSlides/notesSlide6.xml" Id="R2afcbf91e0ca4e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fcbaa468f4e17" /><Relationship Type="http://schemas.openxmlformats.org/officeDocument/2006/relationships/notesSlide" Target="/ppt/notesSlides/notesSlide7.xml" Id="Re2d78c1bf6ef44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b9998a16f4ada" /><Relationship Type="http://schemas.openxmlformats.org/officeDocument/2006/relationships/notesSlide" Target="/ppt/notesSlides/notesSlide8.xml" Id="Rb7490a6dbb6f43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812a17ade4a20" /><Relationship Type="http://schemas.openxmlformats.org/officeDocument/2006/relationships/notesSlide" Target="/ppt/notesSlides/notesSlide9.xml" Id="R91ae2c9ebaf948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161bb5d834a78" /><Relationship Type="http://schemas.openxmlformats.org/officeDocument/2006/relationships/notesSlide" Target="/ppt/notesSlides/notesSlide10.xml" Id="Re80546aaec1f41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f9137448a4992" /><Relationship Type="http://schemas.openxmlformats.org/officeDocument/2006/relationships/notesSlide" Target="/ppt/notesSlides/notesSlide11.xml" Id="Rfbb4c3853ff345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45e41c0f049d7" /><Relationship Type="http://schemas.openxmlformats.org/officeDocument/2006/relationships/notesSlide" Target="/ppt/notesSlides/notesSlide12.xml" Id="R9786997131324f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57145d88c4c2e" /><Relationship Type="http://schemas.openxmlformats.org/officeDocument/2006/relationships/notesSlide" Target="/ppt/notesSlides/notesSlide13.xml" Id="R3d89c2c5a33348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981308e5545ce" /><Relationship Type="http://schemas.openxmlformats.org/officeDocument/2006/relationships/notesSlide" Target="/ppt/notesSlides/notesSlide14.xml" Id="R5a00721c490a49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0af14cc8e48e7" /><Relationship Type="http://schemas.openxmlformats.org/officeDocument/2006/relationships/notesSlide" Target="/ppt/notesSlides/notesSlide15.xml" Id="Rbbab4c8270914a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49700584f48cf" /><Relationship Type="http://schemas.openxmlformats.org/officeDocument/2006/relationships/notesSlide" Target="/ppt/notesSlides/notesSlide16.xml" Id="R9dc8e418a5e341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20edc3e974f1c" /><Relationship Type="http://schemas.openxmlformats.org/officeDocument/2006/relationships/notesSlide" Target="/ppt/notesSlides/notesSlide17.xml" Id="R59fcde1a7aa145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c32d90332473b" /><Relationship Type="http://schemas.openxmlformats.org/officeDocument/2006/relationships/notesSlide" Target="/ppt/notesSlides/notesSlide18.xml" Id="R270c35a903a642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91b4f93c14ee1" /><Relationship Type="http://schemas.openxmlformats.org/officeDocument/2006/relationships/notesSlide" Target="/ppt/notesSlides/notesSlide19.xml" Id="R4d92c6bd74a748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8a2de2a3046de" /><Relationship Type="http://schemas.openxmlformats.org/officeDocument/2006/relationships/notesSlide" Target="/ppt/notesSlides/notesSlide20.xml" Id="R42cdc0d76c1e4c6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f4672658e4215" /><Relationship Type="http://schemas.openxmlformats.org/officeDocument/2006/relationships/notesSlide" Target="/ppt/notesSlides/notesSlide21.xml" Id="R41e122b784a945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8b2eb6b524324" /><Relationship Type="http://schemas.openxmlformats.org/officeDocument/2006/relationships/notesSlide" Target="/ppt/notesSlides/notesSlide22.xml" Id="R685c2565b18c43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90883365c486e" /><Relationship Type="http://schemas.openxmlformats.org/officeDocument/2006/relationships/notesSlide" Target="/ppt/notesSlides/notesSlide23.xml" Id="R0ab60aca3e1744a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1aa03beb0438c" /><Relationship Type="http://schemas.openxmlformats.org/officeDocument/2006/relationships/notesSlide" Target="/ppt/notesSlides/notesSlide24.xml" Id="R6991fa06387e4b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11f2d01c74c9b" /><Relationship Type="http://schemas.openxmlformats.org/officeDocument/2006/relationships/notesSlide" Target="/ppt/notesSlides/notesSlide25.xml" Id="R365aa360b0e64e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E9416-EF3C-41E6-9296-67ED0FF8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D0E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65AEC-4B43-4CFE-B5A6-E99929DF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4CCC9-479D-4499-B761-44E8365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F07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B8F07B"/>
                </a:solidFill>
                <a:latin typeface="Aptos Mono"/>
                <a:ea typeface="Aptos Mono"/>
                <a:cs typeface="Aptos Mono"/>
              </a:rPr>
              <a:t>GOLFIE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D8083-BBF7-44C1-9A5E-C31EB84A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From impressive MVP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 fundable company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97676-C28A-4E00-B49F-B6FCA33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05150"/>
            <a:ext cx="565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D0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7D0D4"/>
                </a:solidFill>
                <a:latin typeface="Aptos"/>
                <a:ea typeface="Aptos"/>
                <a:cs typeface="Aptos"/>
              </a:rPr>
              <a:t>A product, validation, go-to-market, and YC roadmap for the next 12–18 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59014-2F17-47CB-B902-F2770085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2000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A9E01-C9E5-4818-82D6-EEFE8C4C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90-DAY DECISION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E3B0D-3C60-4C49-BC3E-6E2D02DD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9105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6A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AA6AB"/>
                </a:solidFill>
                <a:latin typeface="Aptos"/>
                <a:ea typeface="Aptos"/>
                <a:cs typeface="Aptos"/>
              </a:rPr>
              <a:t>Prepared from a full repository audit, build/test verification, and current market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5839F-F64C-4015-9FA7-CE0484B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3400"/>
            <a:ext cx="4686300" cy="53340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71B1F"/>
          </a:solidFill>
          <a:ln xmlns:a="http://schemas.openxmlformats.org/drawingml/2006/main" w="9525">
            <a:solidFill>
              <a:srgbClr val="2D383D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1589ade044b4f"/>
          <a:srcRect xmlns:a="http://schemas.openxmlformats.org/drawingml/2006/main" l="4956" t="0" r="49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819150"/>
            <a:ext cx="1952625" cy="1219200"/>
          </a:xfrm>
          <a:prstGeom xmlns:a="http://schemas.openxmlformats.org/drawingml/2006/main" prst="roundRect">
            <a:avLst>
              <a:gd name="adj" fmla="val 9375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603bd48c74500"/>
          <a:srcRect xmlns:a="http://schemas.openxmlformats.org/drawingml/2006/main" l="4956" t="0" r="49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3575" y="819150"/>
            <a:ext cx="1952625" cy="1219200"/>
          </a:xfrm>
          <a:prstGeom xmlns:a="http://schemas.openxmlformats.org/drawingml/2006/main" prst="roundRect">
            <a:avLst>
              <a:gd name="adj" fmla="val 937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AC679-CB3A-4853-9A28-9326F015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526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F8C2A-5441-4722-B713-38B4B13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02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CAMERA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10CF1-9D5A-449C-B69D-7E9B582D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526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8AAD1-861B-4CEA-A868-A105D2D7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2002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CAMERA 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312A7-48E4-4F24-9F79-C24A2E55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9875"/>
            <a:ext cx="3905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2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72469-670F-4060-9989-FDED0BC9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DUAL VIDEO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22AC2-C7C1-45E1-AD8C-0F730BC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71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A8402-9EDE-4E4D-B85C-083B7CB5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90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3D LAUNCH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A82FB-1856-4873-9E29-6D56AEED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F240B-A66D-4F81-BAF4-EBD0FFA9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57677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3DC97-9E22-46FB-A80F-8BBE307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FF6EA-00C4-4C5D-BC15-6CDFFA36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0788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B0309-9640-48ED-B508-C792ED65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32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33EAA-9282-46FD-9082-DCBEA673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2696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50957-1E24-4A4C-819C-18CFCDA6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2696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8A6250-44A4-44A1-88AA-8621360E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8232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32191-1B81-4E0A-9E2B-AF1F3791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0788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B1189-DDCE-4425-AAC3-1541C166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266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BC5291-08EF-4835-8A6C-40B5309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7677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EDB6DA-9F36-4490-93C0-421FC27D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86EE7-81F1-4C0C-8066-07F04109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81625"/>
            <a:ext cx="3752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MEASURE → RECONSTRUCT → VALIDATE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F92CB-7118-4380-A533-2442F123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Golfie · Founder strategy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9851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F66B0F-3F98-4CF6-8C55-234B71EE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EXECUTIVE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572E2-7CC0-4BA2-AFF0-CEE60676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The next milestone is proof, not breadth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73B61-CDC5-48DD-85A9-7EC100A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D4986-BDA1-46A7-A5BD-A806C505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Golfie already demonstrates unusual technical ambition: a working full-stack stereo reconstruction pipeline, calibration, 3D replay, and source-aware metrics.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D3F42-6FED-44B8-BA6D-FE1EF39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57450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But the company cannot yet defend the word “launch monitor.” Distance is sensitive to capture timing, geometry, four-to-six noisy stereo points, and a drag-only flight model with spin/lift disabled.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C1762-16D5-42D8-B4C1-1B95ADF1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52550"/>
            <a:ext cx="4171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CF27A-8C4E-42CC-9F15-552D9D04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002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96AAD-5E0B-44CF-8BE9-976FFBF8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71675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Spend 90 days proving accuracy and demand through fixed coach/range pilots.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5D959-5020-4EDF-8B6E-8F9E513E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41719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FA255-621A-4BCE-8900-73CBE564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956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WHY THIS WEDGE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D067B-97F6-49CA-B158-4B22E16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57625"/>
            <a:ext cx="3571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• Controls camera placement and capture settings</a:t>
            </a:r>
          </a:p>
          <a:p xmlns:a="http://schemas.openxmlformats.org/drawingml/2006/main">
            <a:pPr algn="l">
              <a:defRPr sz="135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• Unlocks reference-device access</a:t>
            </a:r>
          </a:p>
          <a:p xmlns:a="http://schemas.openxmlformats.org/drawingml/2006/main">
            <a:pPr algn="l">
              <a:defRPr sz="135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• Produces repeat usage and paid pilot data</a:t>
            </a:r>
          </a:p>
          <a:p xmlns:a="http://schemas.openxmlformats.org/drawingml/2006/main">
            <a:pPr algn="l">
              <a:defRPr sz="135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• Builds a proprietary paired-video dataset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FE920-82B0-40A5-B0A5-E917FEF1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6572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EEAB3-F00C-4D6C-8029-23E85734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6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Founder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43CF6-7F7D-4084-B980-74A14409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8630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Do not add broad simulator/game features until Golfie can reliably say “measured,” “estimated,” or “cannot measure” and prove those labels against reference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D10B7-828F-4303-88CF-838069FA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477316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F5B7F9-ED48-4A7A-BBAE-A38ABC1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PRODUCT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42C5B-0839-4543-96BB-47AE863C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The MVP is real—and technically substantial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A9509-C87E-4726-9B81-2416843C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E2710-3265-4798-AAC2-D30C40A0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33500"/>
            <a:ext cx="26289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94EDF-6AF4-48F6-BA8C-D8AF4A1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7162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14,959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0C07F-2663-44B0-86F5-3BABCB65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764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9D7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9D7D0"/>
                </a:solidFill>
                <a:latin typeface="Aptos"/>
                <a:ea typeface="Aptos"/>
                <a:cs typeface="Aptos"/>
              </a:rPr>
              <a:t>source lines audited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3E59A-75FF-4813-BB46-D3955EAD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33500"/>
            <a:ext cx="26289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C7C81-D1BB-4439-89B4-3D72EE69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05290-F8EF-4EF8-A227-70696903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764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tests passing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93061-0E06-4BF3-BA3C-10D3AA6B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33500"/>
            <a:ext cx="26289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974F8-0B82-40BE-BD79-C075F19A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162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B1EC3-3777-4CDC-BE0B-61917B12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64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processing stages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1B44C-9D1E-43AF-9463-97EF5C41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33500"/>
            <a:ext cx="26289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964B5-8076-4AA2-B523-C959862C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7162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1.25 MB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1F6E1-6ADE-4CB5-8883-95E3B65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76475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initial JS bundle warning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3AF75-2213-4E0E-8ADC-F9756ADD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END-TO-END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AD99A-1379-4D98-B52C-48F7D45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5F624-2FE4-475D-A14C-2FDCDA8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C5D1A-6818-4D21-B4E1-6282FC24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19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1BA9E7-7B80-4C61-85B2-6D1B7AAC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05AA3-04B9-47DC-BE15-52B219DB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01B96-D036-45F5-8E59-13A09F4F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18BAB-55E1-4F22-A67D-52FF3C17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84F7F-34A8-4CFE-AC7F-891C3CE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FDB0D-19B3-4344-9D18-D19689BA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30B4A-F13F-498E-B607-32B1F13D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3CD16-8B5F-4118-993E-4DD9AC3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1BCCA7-DD66-4AB7-B319-3225469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19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43F959-93F0-4C28-B384-36B87555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B79162-010B-44EC-8149-6949B456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EB305-E64A-437E-ADC2-6CBD3C02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7460CD-42C7-443C-9A43-9B34D2A4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975D2C-705F-47AD-ABD3-DE0B5C2E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Triangulate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651A97-BC75-4980-85FF-BA567D2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D26069-8392-45FB-9DAC-D1F2F993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2442F0-EF35-4A16-A6DC-0ED62676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5A50F2-E087-44A7-8980-8C7093E8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19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7717A-43D5-489E-A625-3D6CF211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476625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0164B5-5F88-496B-8A41-08D97C41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B355C9-10CE-4054-A17B-56C27F7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71975"/>
            <a:ext cx="3505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185F3D-9029-4ED6-9B9C-A719D9C4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What works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5D0F60-9CE1-4AB7-98EB-3069EEDD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300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Dual-video upload · ChArUco calibration · progress/logs · review diagnostics · 3D trajectory layers · replay · swing comparison · synthetic demo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E2CB22-CDAC-423F-94F2-69EF11E5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71975"/>
            <a:ext cx="35052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52A8E8-EE7C-45DB-8C8A-D5B688A6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What is prototype-grade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78E60E-D20F-46C2-B4A5-E5C7D981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0150"/>
            <a:ext cx="300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Local JSON storage · synchronous jobs · no auth/ownership · no deletion lifecycle · no frontend tests · no CI/deployment path · stale public docs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2DF5BE-FA1F-44FC-B6B5-5B2C80EC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71975"/>
            <a:ext cx="37338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A3F641-3DC1-4474-9C66-9DCC2F22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is still unproven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30537A-DB84-445F-A5A7-7B847F2B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327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External accuracy · supported capture envelope · false-confidence rate · customer activation · retention · willingness to pay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D23671-5ED3-49BD-8650-D419D7A0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79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Verification: pytest 69/69; frontend lint + production build pass. Vite warns at 1,246 kB initial JS.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3F7594-89FD-4CF8-AC56-AA064D8D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12591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08902-8B41-447F-A9C8-3590D72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TECHNICAL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3A14C-E926-452F-B6D7-032BA329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current evidence is a prototype signal, not an accuracy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B614A-28A8-4EB3-B50A-A52035B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C5989-F030-4BE4-BFDE-E52DDCE3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3524250" cy="36385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20272B"/>
          </a:solidFill>
          <a:ln xmlns:a="http://schemas.openxmlformats.org/drawingml/2006/main" w="9525">
            <a:solidFill>
              <a:srgbClr val="303A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C84C1-E494-4277-9B90-E7FC1F56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LATEST DRIVER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1E411-DA9F-4E44-9C0A-06E5BEF2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C11B3-D312-4202-99D0-9EDBBAF7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30289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4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AD8D8-C0C8-49A6-9A61-834FCE59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028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12.5 ms fitted span</a:t>
            </a:r>
          </a:p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11.26 px median reprojection</a:t>
            </a:r>
          </a:p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48.0–54.7 m/s leave-subset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75206-7E14-487B-A2CA-579B63A1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47800"/>
            <a:ext cx="3524250" cy="36385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20272B"/>
          </a:solidFill>
          <a:ln xmlns:a="http://schemas.openxmlformats.org/drawingml/2006/main" w="9525">
            <a:solidFill>
              <a:srgbClr val="303A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3BBBB-EFAC-4B45-8015-1ED2432B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ACTIVE 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5C957-FC65-4719-9305-E26BEFC7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 tape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B7E17-E1E0-4B45-AA4F-67B4C657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30289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4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B2093-56DB-4DF9-8059-6381017B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3028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1.7599 m board-solved baseline</a:t>
            </a:r>
          </a:p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3 held-out validation frames</a:t>
            </a:r>
          </a:p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Capture mode/lens not fingerprinted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8337D-F8D2-41B4-94D9-F6F615C5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47800"/>
            <a:ext cx="3524250" cy="36385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9525">
            <a:solidFill>
              <a:srgbClr val="B8F07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1303B-4B98-411B-BC15-7ACBD422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REFERENCE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329E60-50F1-4895-9910-2EE188CE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 shots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5778-5E89-4E68-9874-875D6085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30289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144B2F-D2D7-48D3-8F06-B5D21D0B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76600"/>
            <a:ext cx="3028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No simultaneous TrackMan/GCQuad dataset in repo</a:t>
            </a:r>
          </a:p>
          <a:p xmlns:a="http://schemas.openxmlformats.org/drawingml/2006/main">
            <a:pPr algn="l">
              <a:defRPr sz="1350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Confidence is residual-based—not calibrated uncertainty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EA040-5AA5-419D-85D2-C526585A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11258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A2024"/>
          </a:solidFill>
          <a:ln xmlns:a="http://schemas.openxmlformats.org/drawingml/2006/main" w="9525">
            <a:solidFill>
              <a:srgbClr val="3745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6E2A1-C894-4C1D-9C1F-5AEE919A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Implication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0DD35-8F98-4263-A07A-97ACFB46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05450"/>
            <a:ext cx="960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defensible product behavior today is to reject ambiguous captures and withhold metrics—not to output a precise carry number with a confidence badge.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D503B-0B0B-4502-AF87-D6DD0BAD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79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Repo evidence: data/shots/124e23d2a7a6/processing.log; active_calibration.json; golfie_physics/fitting.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BA3F8-5AB1-4F29-83C5-6688F085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471121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6EADB0-3A34-420C-B1BA-CA3B494C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DISTANCE DIAGNOSIS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1E15F-45F9-4123-9839-140B0961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Distance error comes from two stacked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19818-B722-4B22-ACCA-A3C667A7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DC6FE-8BFF-4A92-91E3-6B10EAC7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Recording quality matters—but it is only the first half of the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A702F-D889-4BF7-82CD-958D3DA8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71650"/>
            <a:ext cx="539115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F6B3C-A1E0-4F61-8292-7DAB3E4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19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3D617-A262-4BD2-8BE0-04ED7E6C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1 · CAPTURE + GEOMETRY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CF465-2EE2-466E-A827-BEE1BDC9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B0182-B919-4416-AD59-F745DC8E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4187F-F87A-4D8E-82B6-A4387ED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050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Capture clock ambiguity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63F82-B25D-498D-B53D-85D488F3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4324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A metadata-stripped view can inherit 240 fps from its pair; a 120/240 mistake roughly doubles/halves speed.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44DA8-F189-414D-AB2F-83C40E9C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9600B-AD53-4AC2-A36E-A5C760F4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29C80A-ECE1-46D2-BE8C-7E14D39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194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Calibration scale and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EF37D-45BF-4360-B8B2-8EA7B38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324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Measured baseline is optional; same resolution does not guarantee the same lens, crop, stabilization, or intrinsics.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D71CF-9F91-40A4-8ED3-0090BC4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E952B-1CCD-48CF-A804-2C00656D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A4802-5824-48D4-B1A0-5A902C6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33875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Permissive short 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A0A0C-AB6E-4353-A08B-9734DDC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324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latest driver uses 4 points; the pipeline overrides epipolar tolerance to 40 px and can allow up to 26 px reprojection.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72BCF-6A69-44A2-B80B-2B0E139E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71650"/>
            <a:ext cx="55626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553D7-56EE-4B85-B5AB-259BD9F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324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C3300-1FD7-4EF7-9957-9C7529D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2 · PHYSICS EXTRAPOLATION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31953-7DDE-4148-9F76-52C054F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784F1-6EFE-49D1-886E-270EDC0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37E53-2F34-4AAF-8A11-B05FF066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0507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Spin and lift are disabled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B8314-2638-4680-8355-23AB80A4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6E0DB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6E0DB"/>
                </a:solidFill>
                <a:latin typeface="Aptos"/>
                <a:ea typeface="Aptos"/>
                <a:cs typeface="Aptos"/>
              </a:rPr>
              <a:t>Carry uses fixed drag with lift off. The existing Magnus path is experimental and ignores spin magnitude.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786A2A-22D2-4F5E-B238-72B5CF46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5205B-2B99-4A57-9222-0E72BDD7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7397D-5B57-4794-8CF5-F7828B40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1947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first flight point becomes the tee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01C95-88A7-43FF-A032-F6D1A13C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6E0DB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6E0DB"/>
                </a:solidFill>
                <a:latin typeface="Aptos"/>
                <a:ea typeface="Aptos"/>
                <a:cs typeface="Aptos"/>
              </a:rPr>
              <a:t>Subtracting the first observed 3D point removes pre-observation travel and lowers effective launch height.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23D92B-A175-46A0-ABCC-0821FDE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3C8DB5-7FDB-4741-AF1A-49D2E092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D676F1-E187-487D-BF07-E047474E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33875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 is heuristic rollout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599F68-68F2-4D02-9059-E3249874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449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6E0DB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6E0DB"/>
                </a:solidFill>
                <a:latin typeface="Aptos"/>
                <a:ea typeface="Aptos"/>
                <a:cs typeface="Aptos"/>
              </a:rPr>
              <a:t>Current ground logic can add ~39 m to the latest driver; spin, turf, moisture, and slope are not measured.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8527B7-3353-48F3-808D-F173DCC3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11239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38533B-ED8B-4F34-A018-9226F5B2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Fix order: reject bad inputs → estimate launch state with uncertainty → validate aerodynamics → then restore full-flight claims.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1FA163-C3B6-4496-9791-D18FEF93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426065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5CF9C-126C-44D7-B3C8-9A28F3AA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ILLUSTRATIVE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1B55B-F670-4AB0-A25B-1FD9ECBF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One launch state produces radically different carry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5D498-113C-409B-BAAF-494C5CB3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D929B-BD31-49D6-923E-818C22B4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Same inferred input: 50.85 m/s ball speed · 14.84° launch angle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51B4B-15F4-4303-97A7-FDC5D3A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6667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D878D-7767-49F0-BF09-ECBB5B04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76450"/>
            <a:ext cx="9525" cy="3181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2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E68A0-61A8-4C8F-8302-5093BEB7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3EDE8-D161-45BD-8775-3697CB4E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9525" cy="3181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2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8E5E9-1C53-435B-85DF-22208CE7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34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B02F6-7CA3-4157-BE77-10FDD5D4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9525" cy="3181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2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05AEE-7536-4F49-AA59-025B0769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34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3EB8E-9BD5-46C6-A3EC-5393228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76450"/>
            <a:ext cx="9525" cy="3181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2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212C3-6517-458C-9D55-9206A47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34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105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1F505-FEAA-40A4-AB1E-2BE652F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9525" cy="3181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2D7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E1BEC-6BC9-41DD-BB96-3F4CC374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34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B7D21-A290-4C09-BF67-3B0E458E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Current drag-only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18063-48FE-4CA0-8324-2FE5F917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2686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95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28123-A941-4BBB-A98E-17922149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94.0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BB0C0-FF3B-453F-9308-BA0FE12A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No drag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8DC96-F366-48E4-A8E3-39B68CA9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3729038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4B65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04027-4F6E-4079-8793-B1967BD4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838" y="34290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130.5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752154-76FB-4424-B6BD-AC13DA0C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Existing experimental lift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89E5C-190D-4965-BFB9-72B293E9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3849052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8F8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18A56-1178-4B8E-A1E1-AE0519D9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6852" y="43815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134.7 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F5B9A-24E1-46A1-9127-6BC77D09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Carry (metres)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81065-4436-4C08-A305-685A24FB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4248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88ED4-84CE-4F47-B1E4-4952643E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4310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8F07B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B8F07B"/>
                </a:solidFill>
                <a:latin typeface="Aptos Display"/>
                <a:ea typeface="Aptos Display"/>
                <a:cs typeface="Aptos Display"/>
              </a:rPr>
              <a:t>+43%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FCE26-B16F-4BCF-97C7-8D1C7677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carry difference between the current drag-only result and the repository’s experimental lift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4A6153-A83B-4C95-ACDF-16B1182F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95700"/>
            <a:ext cx="42481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6D4FD1-2FAE-4DA5-B20E-40FD34E3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What this proves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DF49DF-F157-4A9A-BB07-FE39A38A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62450"/>
            <a:ext cx="3543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The model is structurally sensitive. This is not a ground-truth comparison, and the experimental lift path is not ready to ship. It isolates a physics risk that better video alone cannot fix.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7839E-6B29-4100-B9B5-2646154E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579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Internal diagnostic using the repository’s current projectile model; illustrative, not validation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FAC40B-076A-47E3-99BD-2E919309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884898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73E224-B2AF-4C86-AE67-2509A61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RANKED PRODUCT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54D66-CA44-4937-9C21-C1B27CE1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Current-feature improvements: immediate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3FDFB-3AB5-407F-9DC8-E9B5706B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12BC5-7FB3-4CFE-813E-EE774B64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Ordered by trust, customer impact, and startup readiness—not implementation convenience.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3411C-D471-472D-AA74-86C5438E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19050" cy="441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FE33B-1310-42DD-9B13-C623B0C0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C609B-516C-409B-9FE9-08065A11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7899A-5ADC-4F56-939C-7233A672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66875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Capture-quality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61FBA-9BC8-44D6-99FD-3D23BF4D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474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Require measured baseline for accuracy mode; fingerprint device/lens/fps/orientation/crop; show ready/not-ready before upload.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F9792-77D8-4079-B93A-593A2531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05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DA6D9-AF9C-4CE6-8562-E7D2E3D1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67814-F299-4260-9AB0-E33380D7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Reject ambiguous timing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D5697-EAAB-4768-BA0D-FE560FE6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474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Do not infer 240 fps from a paired phone alone. Unsupported or metadata-stripped captures should return a remedy, not a metric.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91E496-2AB4-46E7-B198-93C89AB3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33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4468A-A8EB-4ED2-8758-C53138AA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9B1BB-C7B5-48CD-81FA-C776E44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Tighten reconstruction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4EF7B8-BDDC-4CF2-B28B-193C8CE8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74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Replace the permissive four-point path with minimum span/sample gates, sub-frame offset optimization, robust fitting, and intervals.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B4D67-C7E5-4A72-90C7-6F122FA2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62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5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AA2F5D-D932-4FC8-BEFA-D5B7316E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E857F-39ED-4A1F-8295-42C45255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Separate measurement from extrapolation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00B29-829E-497C-A6F9-03680839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474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Keep launch metrics distinct from carry. Hide total; never enable current Magnus logic; display unavailable when evidence is weak.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D75DD-F6CD-474D-95E1-2937270D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5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CA43D-3FB8-4CFB-8109-C1548BA3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09D1D-60F1-4DFD-8055-A5883311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66875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Fix misleading UI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739AF-05D0-4F40-89A9-2E1F4FD2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743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Remove hardcoded shaft/grip/weather; correct raw-unit gauges; fix demo ID mismatch; hide unfinished Course Map and developer copy.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A3007B-CCFB-4133-86AF-C74E5DDF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5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0DCD9-B98C-4924-8E10-EB06945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6EBF3D-DE41-4EF3-A4EB-B889A9AD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43225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Make the flow golfer-first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717E8C-83DA-4A3A-B495-47390C87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19450"/>
            <a:ext cx="4743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Add upload preflight/progress/retry; lead review with result + validity + next-capture guidance; move diagnostics behind disclosure.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00D2DA-C532-45A7-9C6F-006688F1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5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83BB4-DFBF-41B2-860B-32BBAE8E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862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58324-8E52-41FB-B495-9069064B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9575"/>
            <a:ext cx="474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Add production guardrails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107DB-BA55-4571-B42A-78C20FC3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95800"/>
            <a:ext cx="4743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Authentication/ownership, upload limits, deletion/retention, durable jobs, complete failure transitions, quotas, and pinned model/runtime versions.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60639-967C-4962-B463-3FCCE8DF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62600"/>
            <a:ext cx="523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0F75C-5D7B-45EE-A816-3CF3127E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7054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Release rule: a confident wrong number is a P0 defect.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3F8111-5CA5-48BB-84AE-64684C38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81348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7D892-92C2-4508-9E74-985DDDF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CURRENT FEATURES · LATER HORIZONS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DF1BF-D87B-4D53-9202-94B1467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Improve quality before expanding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D40A7-6B1B-4027-A9A4-1E8A84F4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9C261-42BB-4916-A948-3DDDC1B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3505200" cy="40005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8033A-BF77-4773-BE39-3B6929F3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94ED7-FB15-4CBC-BA18-BA83F48E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SCHEDULE ·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2445C-A8F0-4D76-A5CC-22CECD8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Frontend reliability +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C2525-3C28-4C2B-9018-7BC3A0CB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304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3BA46-D531-4188-B054-AEC93B9D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Route-lazy-load Three.js; add WebGL fallback and error boundaries; responsive HUD drawers; WCAG AA contrast/focus/live regions; unit, component, and E2E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BA93F-35B6-412E-A786-ECA1B66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302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Target: core flow passes mobile + keyboard QA; initial bundle materially reduced.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4A8B7-A73F-4CFA-BCC7-C3B38E47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66850"/>
            <a:ext cx="3505200" cy="40005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87E9C-D59B-4D3C-9DD4-53436857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145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0B7CA-C782-40F5-A8C1-B3457AB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762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SCHEDULE ·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C4527-BF85-43F4-B962-78B8E66B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288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Observability + privacy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D469C-E64D-4BDA-BA4C-5E0EFA88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90850"/>
            <a:ext cx="304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4E2007-7CBF-4FF5-A571-4DC23EAE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3850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Track calibration completion, time-to-result, valid-shot yield, failure reasons, demo conversion, replay use, and return sessions. Add explicit retention/delete controls and separate training opt-in.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4E53C-7208-47EA-9707-60A81EAE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62500"/>
            <a:ext cx="302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Target: every failed or abandoned session has a known reason.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89431-3872-4E40-BC13-42D09404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505200" cy="40005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9AB18-7A5B-423F-89C9-62800578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47F5D-4DF6-44E8-8BDE-FFE5050A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NICE ·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9A7AA-552D-423E-98FA-C54F616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028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Design-system consolidation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0A9DC3-5F24-4F59-BABF-5C6DCA61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90850"/>
            <a:ext cx="3048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8B7B4-04A1-4E96-9B58-51F27259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Unify typography and source colors; replace one-off inline styles; reduce tiny labels; add static/low-power trajectory mode and graceful degradation.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119E3-B87E-4FAA-8851-D61EAFF5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3028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Target: consistent “measured / fitted / experimental / unavailable” semantics.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74214-9482-4A25-AC99-DFAE6C7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95950"/>
            <a:ext cx="11144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D8B48-9990-402E-AC42-92688AA0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Public credibility fix: update README + architecture diagram + CLI status, add CI, and replace weak commit messages before external outreach.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4C0E1B-CC16-4DFF-9308-B0FDA905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530881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32BF4C-C495-4970-BEB3-AA4000D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RANKED NEW-FEATURE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59564-56F7-42E5-996D-4CB773A5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New features should reduce friction or create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D26F2-A974-40A3-9A40-6C180506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1BFCF-D4DF-47ED-8205-1A8CFAD0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53911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678ED-6D43-4AF7-92A7-0A19467F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627C-9633-4CF4-80F5-A71DEEB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IMMEDIATE ·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25252-D44C-4344-8E5E-ECDC0863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Guided Capture + Rig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8F507-299B-416C-A7F5-ED0F429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Live placement, lens/fps/stabilization verification, baseline measurement, blur/exposure/visibility score, and a simple ready/not-ready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69BF1-740B-4823-9E49-250B2976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52550"/>
            <a:ext cx="54292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D063B-BA6A-40D6-956D-1F7D8A9E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A85A5-B298-43AB-BE72-5E3B1A4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287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IMMEDIATE ·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10923-0E89-4C5E-A104-1A8E2319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Accuracy Benchmark Lab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D83DE-D273-449A-8211-5BCC7D96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Import paired TrackMan/GCQuad results; store versions and quality data; report bias, MAE, p90/p95, valid yield, false-confidence rate, and confidence calibration.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A58FA-DCD0-40B0-A2DD-D0792471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486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945BA-3137-4102-878D-9696483B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7D40B-9F7A-49C1-809F-F29B28D3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90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SOMETIME ·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D2FD21-4AC4-4913-926D-10920857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Range sessions + dispersion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29B0A-BFB1-4622-B12A-68C4F16D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History, club filters, gapping, consistency, trends, personal baselines.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71ED2-0DF5-47C2-A3C7-D413CA05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34861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8523E-591F-4F08-A1BE-83B7568E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CEE28-057A-4D60-AFA8-418324B1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90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SOMETIME ·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6E9D1-A7CB-4518-99A3-48F8787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00550"/>
            <a:ext cx="293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Coach share + annotation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2898C-E975-4B79-ABFF-8CCC5ED0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2933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Consent-controlled replay links, timeline comments, and outcome summaries.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B9EFA-70B9-4681-A40C-523E65D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524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60A05-836B-48CF-86FF-E80FE8D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05F68-21F3-4917-9FC3-2DD810C1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909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NICE ·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42259-977E-42BE-BBD9-E93228EC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00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Practice plans + challenges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F27E1-8A07-41F3-98E5-AC0E5A5E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720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Only after repeatability and retention exist; avoid AI-coach claims before measurement is trusted.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9430F-A895-4065-863C-65167A84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72150"/>
            <a:ext cx="11144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DE02A-F332-44C1-BEA4-F2555ACE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Feature rule: the first two features make Golfie more accurate and fundable; the rest make it more valuable after trust exists.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9F03D5-ABA4-468C-A3DC-160EC73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212781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D292B-3A29-4181-96A5-91837B82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GO-TO-MARKET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59BD0-CA02-4424-9C21-9C6369F9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Start as a fixed software launch-monitor station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6A94C-6D98-4C9D-8E54-74DEA1D7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91834-4513-47BB-8841-74BE328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C1C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6C1C6"/>
                </a:solidFill>
                <a:latin typeface="Aptos"/>
                <a:ea typeface="Aptos"/>
                <a:cs typeface="Aptos"/>
              </a:rPr>
              <a:t>The wedge should control the physics inputs and produce repeated customer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CE97E-FED8-402A-B94C-CD7E1944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57350"/>
            <a:ext cx="49530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1C2327"/>
          </a:solidFill>
          <a:ln xmlns:a="http://schemas.openxmlformats.org/drawingml/2006/main" w="9525">
            <a:solidFill>
              <a:srgbClr val="3440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6468F-98AD-4564-B763-B16DA8F0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Consumer two-phone self-service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9E6AF-E8FC-470C-884A-D1A4525E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E3872-C32B-4CEC-8B42-71E51333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669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BA335-3818-4C02-B83B-35B5CDC5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A"/>
                </a:solidFill>
                <a:latin typeface="Aptos"/>
                <a:ea typeface="Aptos"/>
                <a:cs typeface="Aptos"/>
              </a:rPr>
              <a:t>Capture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ED0B2-019E-42D6-9FB6-80B22CF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95D5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95D58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C73F5-1D42-4E89-AE2F-0C07AF44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3624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33382-664A-4595-9F53-1ABEB7B4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A"/>
                </a:solidFill>
                <a:latin typeface="Aptos"/>
                <a:ea typeface="Aptos"/>
                <a:cs typeface="Aptos"/>
              </a:rPr>
              <a:t>Setup burden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79920-6E32-4708-A81E-2A73D5A9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B34BD-5E00-4F78-BF4A-85D5426D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3624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9940F-FD21-4E56-9602-B72D6A31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A"/>
                </a:solidFill>
                <a:latin typeface="Aptos"/>
                <a:ea typeface="Aptos"/>
                <a:cs typeface="Aptos"/>
              </a:rPr>
              <a:t>Reference-device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FC091-DC2F-46E7-BA52-27A1D010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Rare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EE9A1-5EAE-4034-88FF-4B295C49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3624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480A0-7982-4975-B82D-9E73960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A"/>
                </a:solidFill>
                <a:latin typeface="Aptos"/>
                <a:ea typeface="Aptos"/>
                <a:cs typeface="Aptos"/>
              </a:rPr>
              <a:t>Support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DF2998-DC78-4855-843E-927B8206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1E1DC-8738-4934-AC89-3CDC612C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3624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50FBA-1634-406B-88B3-4901C117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5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A"/>
                </a:solidFill>
                <a:latin typeface="Aptos"/>
                <a:ea typeface="Aptos"/>
                <a:cs typeface="Aptos"/>
              </a:rPr>
              <a:t>Retention reason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5A575-7FC2-4525-AC83-7C8C4EB2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Unproven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11D4A-B1A0-477F-AB8F-A6951191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57350"/>
            <a:ext cx="57912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19050">
            <a:solidFill>
              <a:srgbClr val="B8F07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C2B01-A46C-4645-9378-BE14F63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43100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Coach / range fixed rig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799AE-B86B-4E7F-A852-D49EDC37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193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10038-037C-4A39-9A11-2189D683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626DE-02C2-4D78-946F-850325E0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71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6CF"/>
                </a:solidFill>
                <a:latin typeface="Aptos"/>
                <a:ea typeface="Aptos"/>
                <a:cs typeface="Aptos"/>
              </a:rPr>
              <a:t>Capture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2A7CA-4E0E-4284-B2A8-5D0DFA49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90CBC-CF34-479B-81F5-01B4EB75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76600"/>
            <a:ext cx="52197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C533A2-D97D-4881-9BF9-D2541E0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09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6CF"/>
                </a:solidFill>
                <a:latin typeface="Aptos"/>
                <a:ea typeface="Aptos"/>
                <a:cs typeface="Aptos"/>
              </a:rPr>
              <a:t>Reference-device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358D7-E913-4866-B0B9-6E7E7FE8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Likely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3C922F-0DCF-48D5-9879-26FA566D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14750"/>
            <a:ext cx="52197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90170E-B777-401A-9E5C-A62B38AF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481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6CF"/>
                </a:solidFill>
                <a:latin typeface="Aptos"/>
                <a:ea typeface="Aptos"/>
                <a:cs typeface="Aptos"/>
              </a:rPr>
              <a:t>Usage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FA1908-680D-414D-AFCD-8719CB3B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Repeated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800B3-E257-44A4-890C-43BCE693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52900"/>
            <a:ext cx="52197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E8E58A-9168-49F2-8C8E-F74E50B3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6CF"/>
                </a:solidFill>
                <a:latin typeface="Aptos"/>
                <a:ea typeface="Aptos"/>
                <a:cs typeface="Aptos"/>
              </a:rPr>
              <a:t>Buyer learning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C9BB9-E26B-40D4-8E14-E88B6F51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862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Direct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3CB7F3-EA5C-42AA-AF0A-0781A4D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91050"/>
            <a:ext cx="52197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67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FF178A-6AD4-4A8D-9867-76073E9B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24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6C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6CF"/>
                </a:solidFill>
                <a:latin typeface="Aptos"/>
                <a:ea typeface="Aptos"/>
                <a:cs typeface="Aptos"/>
              </a:rPr>
              <a:t>Data moat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A1E716-6A59-418A-87A7-185A029A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244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Paired + labeled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14C63C-CFF7-4992-BE46-621D555F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9595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B2226"/>
          </a:solidFill>
          <a:ln xmlns:a="http://schemas.openxmlformats.org/drawingml/2006/main" w="9525">
            <a:solidFill>
              <a:srgbClr val="3440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743017-F6D7-46A5-9684-C194343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Pitch: “Golfie is a software launch monitor for golf coaches and driving ranges that reconstructs and replays ball flight from two fixed cameras.”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CD07DD-FA55-42B6-8387-D8911743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676346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210917-D4F4-468B-8693-D80BF242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MARKET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8F09A-3FE9-4164-AF40-94439663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The market is large; the beachhead must stay narrow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A2546-6B9D-4928-85E6-9A25A762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CD855-7370-47FE-9285-ACCA089B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2609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C25D0-0456-490F-9E96-35451617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48.1M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3F659-368B-4A2C-96B2-2DC63504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DFD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4DFD9"/>
                </a:solidFill>
                <a:latin typeface="Aptos"/>
                <a:ea typeface="Aptos"/>
                <a:cs typeface="Aptos"/>
              </a:rPr>
              <a:t>U.S. golf participants, age 6+ (2025)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B1F11-385F-4B71-AAA3-0BEA846D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09700"/>
            <a:ext cx="2609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AFD2B-58F9-472A-93B1-CACA9103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19.0M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A0759-E290-4B37-B0DF-E50980C8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off-course-only participants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B2AAC-7F3F-4D7C-AEE7-EAB19A06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2609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98157-9C5D-4EDA-BC3A-1B1395A0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8.1M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882AF-DF9B-4EED-8EDD-D6A8CB8B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U.S. simulator users (2024)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D850A-FE83-43CB-B1CF-DEC71BEB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09700"/>
            <a:ext cx="26098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CF62F-70A9-4CE7-A862-4B30805D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764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$45k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7E821-335B-46DE-8F4C-5F796AFE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193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average simulator investment per bay in NGF survey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85F090-43B4-4C3B-8171-3C3156ED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62350"/>
            <a:ext cx="71247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8D948-E8FD-4F9D-99D8-335B4CB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662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Why a lower-cost software station can matter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660AD-677D-4BF8-9E63-E60F1338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657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• NGF’s facility survey found 72% cited space and 53% upfront cost as simulator barriers.</a:t>
            </a:r>
          </a:p>
          <a:p xmlns:a="http://schemas.openxmlformats.org/drawingml/2006/main">
            <a:pPr algn="l">
              <a:defRPr sz="135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• 34% of simulator users cited performance feedback / analytics.</a:t>
            </a:r>
          </a:p>
          <a:p xmlns:a="http://schemas.openxmlformats.org/drawingml/2006/main">
            <a:pPr algn="l">
              <a:defRPr sz="1350" b="0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43039"/>
                </a:solidFill>
                <a:latin typeface="Aptos"/>
                <a:ea typeface="Aptos"/>
                <a:cs typeface="Aptos"/>
              </a:rPr>
              <a:t>• A fixed Golfie rig can test whether transparent measurement and replay create enough value without a full simulator buildout.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5435A-C5A6-4E4C-B8A9-9E366028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3714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89399-3EA5-4984-8C87-E78F8B24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 discipline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FE249-A338-46C9-B554-6405C3D8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Do not present participation as TAM. First prove that one coach or facility workflow converts, retains, and supports positive per-session economics.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A839E-2FD1-47A6-A602-D1C3DBB4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Sources: National Golf Foundation 2025 participation facts; NGF “Golf Simulator Opportunity” (Apr 2025, sponsored survey—directional evidence).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9B274F-D95D-40A8-8216-494B8210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649705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2F130-D478-4A14-AEA3-6663814C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COMPETITIVE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7C937-497A-4C15-845D-23C8FE0E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“Phones + golf” is not differentiated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3C769-16FE-4211-AF20-FAAB9FDD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9BFB0-A8B4-488C-B7F0-038D70F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20764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94316-4B1A-4C0C-A202-23DE7157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4EB8F-5C32-489D-99AB-88FF6D6A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390650"/>
            <a:ext cx="3067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A00F1-BC1E-4DF8-9724-9AC01F1B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240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 + sensing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694C9-B307-4FDE-8B28-37D2F8A9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23050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B57AD-88EB-4D82-B160-2019446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5240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81424-2B19-4CBC-98FD-0435E59A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90650"/>
            <a:ext cx="1828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3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5AB4D-AEA6-44FF-A30B-C5F5D492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Price 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0DDBE-61CB-4A94-BAF0-530C4FFB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90650"/>
            <a:ext cx="1562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CF41F-41FE-4C2F-B85C-83069EAF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240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Golfie lesson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E19B8-675C-47A8-9FBC-FD3AD68D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2076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EDBA3-2543-4282-8A94-9CD532A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TrackMan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A189A-3AB1-4870-89A2-387B71A8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47850"/>
            <a:ext cx="3067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98EE4-751E-4F4C-92F7-FA0B3EE3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9072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Dual radar + camera; 40+ parameters; professional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0439A-9844-4B0A-96A8-95CBAE0E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2305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357E5-52B0-45CE-960C-B6FDD6C3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907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Coach, fitting, simulator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1C698-AC92-4F77-B6ED-382ACF67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1828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14AFD-491B-47E9-BB2B-C9A9CA89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90725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Premium pro hardware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78655C-C5F8-4422-958D-53D709D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847850"/>
            <a:ext cx="15621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3D40A-EBDE-489B-BBC7-D5320F3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907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Accuracy bar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8C7A2-D4D7-4712-B4C9-3D836782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90825"/>
            <a:ext cx="11144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79A64A-F2B8-4C97-A5DE-2A6DB820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2076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17ADD-240A-48A8-8847-EA3EDFE4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4322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Rapsodo MLM2PRO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0116B-CD9F-4A28-AD1C-EE93F4F1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3067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03EFE-7BB9-4AC9-BEC8-3D7E2995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4322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Dual optical + radar; 15 metrics; marked-ball spin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CBCB2-CDDB-4265-A78E-975C1189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00350"/>
            <a:ext cx="2305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D1405-422B-45D6-96F3-21D259E7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Portable consumer practice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A3C5C-A92D-4DC6-8944-7C97F61F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1828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D767C-014B-4D53-A995-44C2FC9B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43225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$599.99 promo / $699.99 list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4239DA-6085-4904-9DF3-E8A3F62A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5621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758429-D20C-49D3-A6B0-CBF3A62B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432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Turnkey bar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3F9893-0BBC-43C5-9EAA-A0DEC6EE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43325"/>
            <a:ext cx="11144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6B346-2B24-4C02-819E-C30A29B0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52850"/>
            <a:ext cx="2076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D5042E-5D0C-4BC1-B3F2-24E626A7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9572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Shot Tracer / Sportsbox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652936-DA1D-41A3-95AE-A847EBDF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52850"/>
            <a:ext cx="3067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40C9FA-0E29-43D6-86EF-3A40BE31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9572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Phone-based ball-flight or body/swing analysis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962936-CC9C-4D6A-ADCE-DCA3A598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52850"/>
            <a:ext cx="2305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F974CD-4FA6-4EC7-A275-0D92167B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957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Content + coaching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8D7B91-7C2F-4600-BF06-7C70B96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828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6C26E7-8732-4342-8DD2-94A4A3D4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95725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Low-cost app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3EAEE5-4BFB-4E1E-9C5F-99F6BCB7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52850"/>
            <a:ext cx="15621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553F51-47C5-438E-B1AA-929A1B13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957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Phone claim exists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0B9FE4-AB71-495B-A9F2-985AFFFE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95825"/>
            <a:ext cx="11144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5A5AE1-C837-4FBD-A42F-7AD325BD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20764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34DB30-2207-472D-8F44-DAB09597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Golfie today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5A03C8-34A1-4848-BAA1-CE943CAD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3067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D0BD7A-1863-44ED-8567-40B7C6D3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4822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Stereo video + transparent provenance; external accuracy unvalidated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0C24A5-308F-439D-BA10-8F342031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05350"/>
            <a:ext cx="23050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BD6D9F-F90D-44A3-93CB-EF31EB05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48225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Technical prototype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7BEECB-9A5F-4BBA-BC9D-F9B6F46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8288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78405E-2405-4B6B-8025-F8F241BA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48225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Not priced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2D275B-B213-4CA0-8D16-664EA2F8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05350"/>
            <a:ext cx="15621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3E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5CDB4F-E04F-48F6-85A9-85576762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48225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44A3A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44A3A"/>
                </a:solidFill>
                <a:latin typeface="Aptos"/>
                <a:ea typeface="Aptos"/>
                <a:cs typeface="Aptos"/>
              </a:rPr>
              <a:t>Own proof + workflow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DE00E3-0573-42E1-8487-3F0D901E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48325"/>
            <a:ext cx="11144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651D0A-7D75-4EE7-AA75-96ACB89C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111442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217560-2143-4717-A27A-35E15D25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Differentiation to earn: validated stereo accuracy + honest uncertainty + a coach/range workflow at materially lower installed cost.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EBF375-4980-4070-85C9-CCB9CEA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Sources accessed 14 Jul 2026: TrackMan product page; Rapsodo product page; Sportsbox; Shot Tracer.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A9B8FD-16A4-4518-8892-A1E97298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7022044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DFB76B-57E9-470D-B413-16BE6F4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CUSTOMER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F193B-0218-400B-8B6B-861128ED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Choose one buyer by evidence, not intuition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69246-56F3-48D4-BB23-A71554B0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F370C-2AC7-4EC1-9D54-D7A459DC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3524250" cy="41719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0DECC-5A0A-4E04-9479-36DCF2D4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PRIMARY ICP TO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473B1-C3DC-403F-803F-8F71F19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97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Independent golf coach or small range operator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82271-CAC3-4720-8461-65CCC794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0289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0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70252-A43D-40A0-80D6-92E2A81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Qualifying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8D163-333A-4A60-B412-FB944D06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71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• Repeated practice sessions</a:t>
            </a:r>
          </a:p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• Existing phone/video workflow</a:t>
            </a:r>
          </a:p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• Access to TrackMan/GCQuad or measured outcomes</a:t>
            </a:r>
          </a:p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• Authority to test a fixed installation</a:t>
            </a:r>
          </a:p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• Pain around cost, setup, or reporting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5173D-0BA8-4199-95EA-BBCC4FEF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90650"/>
            <a:ext cx="3524250" cy="41719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3BDBB-C84F-4743-8132-1172961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573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30 INTERVIEWS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90390-4154-4BAD-8A59-C71B921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028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10 coaches</a:t>
            </a:r>
          </a:p>
          <a:p xmlns:a="http://schemas.openxmlformats.org/drawingml/2006/main">
            <a:pPr algn="l">
              <a:defRPr sz="23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10 facilities</a:t>
            </a:r>
          </a:p>
          <a:p xmlns:a="http://schemas.openxmlformats.org/drawingml/2006/main">
            <a:pPr algn="l">
              <a:defRPr sz="23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10 serious golfers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8A35CB-401E-4A0E-8E7A-58E68F7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0289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61072-B19B-40CF-B432-315D8D53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Listen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3AC2F-ADD6-4AEB-863A-2145F46F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3028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Frequency of the pain · current workaround · measurable cost · budget owner · installation constraints · what would make them stop using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BA178-F398-4116-AC2B-520B497B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90650"/>
            <a:ext cx="3524250" cy="41719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05084-EFD5-43B0-A46B-7D235994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573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ASK ABOUT THE PAST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5EA6C-F129-4DAE-AD4C-4B27211F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“Tell me about the last time you needed launch data or swing replay.”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69615-AE89-4A02-8CFB-04C419C7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30289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C3137-123C-43B5-8A2A-1F34EC69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Then 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A14AA-D680-4C6E-9FD4-A4F1F5A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30289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What made it hard?</a:t>
            </a:r>
          </a:p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What did you try?</a:t>
            </a:r>
          </a:p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What did it cost?</a:t>
            </a:r>
          </a:p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Why did you stop?</a:t>
            </a:r>
          </a:p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Who would approve a paid pilot?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B8F6C-69FB-42EF-8B24-9E48929B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144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DFF07-8CA0-4B74-980A-CCD32DD4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Evidence target: 3 signed pilot commitments or deposits—not 30 compliments.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4A699-65AB-4B33-B564-02787E18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2998339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8BC7E4-9153-4569-85A3-5BF01FF4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EXECUTION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EFD7F-2D50-49C7-8CA3-FA68B28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A 90-day plan that creates a real company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D1943-75A8-4B9E-A6F4-AA383F7D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5534F-6E50-4B74-BFF4-2217E76F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620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Each phase ends with evidence that can change the strategy.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04353-AFFE-4D29-AFB1-5765178E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01917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DE857-ECF5-4336-9E94-FDAF8B57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81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65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04B6A-6992-4A30-BA17-AE254EE6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95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F172E-9E5E-4B33-AC46-BA6224A7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JUL 14–27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3EB71-56DD-48B4-9BF6-3B34DB27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Apply + recruit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CD451-FCDA-4DFA-A714-23C3CF4E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2495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YC application; schedule reference-monitor access; 10–15 interviews; remove public-demo credibility bugs.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7FE23-175D-4D9C-951D-6427DCC7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2495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AB5E5-909F-45A4-8F95-D303047B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6B16B-639A-4AFB-8947-101DD8C9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Application submitted + benchmark date booked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04702-7407-4A66-A414-E76BF17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8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B809F-4ED6-4447-B625-6EE4F0E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B42CB-A805-432B-A926-A2AA1C7D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62100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8D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8DB5"/>
                </a:solidFill>
                <a:latin typeface="Aptos"/>
                <a:ea typeface="Aptos"/>
                <a:cs typeface="Aptos"/>
              </a:rPr>
              <a:t>WEEKS 3–6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09ABE-AF05-4404-932C-834A6B9D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85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Freeze the rig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2250B-7360-43A3-BFD8-38A88C6B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2495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One supported device/capture spec; quality gate; measured baseline; reference importer; versioned outputs.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D059E-9F2D-466A-919E-8FF9440A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57750"/>
            <a:ext cx="2495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CB9E0-0D4D-4E2C-AF22-AB35CF2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8157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E8DB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8DB5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A227D-C611-497A-B551-4D16B2C5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00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Repeatable fixed-rig capture envelope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B098B-7657-427F-803A-B16FAB15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8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5D238-49BF-4E90-BAED-102F62E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6A33B3-001C-410A-BD0B-FDD9E33F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F83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83C8"/>
                </a:solidFill>
                <a:latin typeface="Aptos"/>
                <a:ea typeface="Aptos"/>
                <a:cs typeface="Aptos"/>
              </a:rPr>
              <a:t>WEEKS 7–10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EE18E1-35C7-4079-B6D0-0C166EED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Benchmark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644E9-A764-4A42-B359-D84B4F8F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86150"/>
            <a:ext cx="2495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500 paired shots / 20+ golfers; held-out set; error distributions; false-confidence and yield report.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33A716-8C59-4053-A3D1-8FDFF18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57750"/>
            <a:ext cx="2495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0E676-0774-48B5-8C8E-09EF508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8157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F83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F83C8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83059-9742-480D-9CF2-90C1BEA9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00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Accuracy gates met—or claim narrowed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6F1579-446A-439C-90A0-5C48F653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813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0F8B22-98F2-4B1E-AB66-D32C8704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95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01E087-E785-493B-8110-2E73C14B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49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WEEKS 11–13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0A6378-5068-48AF-95F5-B2CA4096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85950"/>
            <a:ext cx="2495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Paid pilots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BDF87C-1FBC-4252-84E3-73EA1E8F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24955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Install 3–5 design partners; track activation, weekly use, support cost, and request payment/deposit.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612E6-EB84-46A7-848F-B96003E2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57750"/>
            <a:ext cx="2495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468B0B-AC1E-4C4D-AB93-A342419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8157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EE98F6-5187-4FC9-92CF-BBBE73FC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0065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partners pay or renew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266243-6874-48BD-BB88-32A97DC6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05500"/>
            <a:ext cx="11125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E0AF85-4669-405C-9FDB-B0B6B90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78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Stop condition: if fixed-rig accuracy or paid demand fails, reposition as launch reconstruction / coaching replay rather than a launch monitor.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F1F1E-04B3-4B8F-99A7-7714768A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656823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CB60B-637B-4701-8CE1-2B82CA24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BENCHMARK PROTOCOL +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43F62-14E0-46EE-BFB5-B559C9C7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Publish the accuracy card investors will ask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6D048-B070-4EF8-B13E-084AB773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E3498-A59B-4612-8B19-82B9A027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4095750" cy="434340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553FD-31EC-4B12-AD3D-BEA511A2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D3D47-0F56-4BA3-9D76-E8372007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42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500 paired shots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20+ golfers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 club families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F590D-E364-4D86-9BE1-DD1CA960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3429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0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D1071-3424-4739-9267-7E245F6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3429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Driver · mid-iron · wedge</a:t>
            </a:r>
          </a:p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Different speeds and lighting</a:t>
            </a:r>
          </a:p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Supported phone pairs / capture modes</a:t>
            </a:r>
          </a:p>
          <a:p xmlns:a="http://schemas.openxmlformats.org/drawingml/2006/main">
            <a:pPr algn="l">
              <a:defRPr sz="127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Held-out test set never used for tuning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2E0B6-F0A3-4DA7-8DDE-D6C818B2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71600"/>
            <a:ext cx="676275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960C7-F3BA-47C6-B23F-C3A20DBB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383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PROPOSED INTERNAL SHIP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17CEA-4927-4526-ADB0-09F735C4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838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858EB-E6C6-418C-B445-DDC902A1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90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rPr>
              <a:t>≥ 90%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84343-02E4-4AF5-B81A-4A7640BC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Valid-shot yield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3164BF-B778-4231-A0B4-658BE139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2838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B1390-2679-4179-8801-FF48A459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5D5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C95D58"/>
                </a:solidFill>
                <a:latin typeface="Aptos Display"/>
                <a:ea typeface="Aptos Display"/>
                <a:cs typeface="Aptos Display"/>
              </a:rPr>
              <a:t>&lt; 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81922-817D-4295-9C28-256C44D5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383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False confident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ED04C-32A3-4D4C-9027-6A62CD7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86100"/>
            <a:ext cx="2838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E6BE1-83C1-4079-86DB-9501AD07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rPr>
              <a:t>≤ 1.0 m/s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23447-304C-4012-8D6D-BA2D84B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480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Ball-speed 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A4945-62E0-4B0C-B78B-3F9812B5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838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2A859-B0FE-4CE5-A970-D933A9B5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rPr>
              <a:t>≤ 1.5°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59D8F-1840-4953-BB92-FA202107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480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Launch-angle MAE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AEF6C-8D67-4539-BE43-1649FB08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2838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B3B6A-4C83-4A76-A3B1-801DD143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rPr>
              <a:t>≤ 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59970-6FCB-474C-8EA0-807BB0A7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576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Median carry error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782D2-636C-4DAF-8D1D-E2B824FC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838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90656-20F6-4297-AF59-32F0B40A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rPr>
              <a:t>≤ 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01D06B-4E9D-4032-BDC9-60C2B5B3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576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p90 carry error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28BEF-C8AA-49C3-B29E-868317D1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19700"/>
            <a:ext cx="594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EDF96B-16B1-46A4-A167-98E05091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286375"/>
            <a:ext cx="567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Also report bias, median absolute error, p95, limits of agreement, latency, and errors by capture quality.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EFA22-72E1-461A-BE5B-14B08A7C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436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Targets are recommendations—not published industry standards. TrackMan/GCQuad are strong commercial references, not infallible ground truth.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2E382-61EE-41F6-956D-9F6DB0E9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203853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90007-7317-489B-8F07-49F49DF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BUSINESS MODEL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F998B-99C2-45C6-AB4B-4A72F41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Price the workflow; do not pretend the TAM is 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2EA3C-8CD7-4774-9B1B-02E928B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A12C4-F3F2-4569-A796-15C0109E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06D77-86FA-48A8-9D8B-4189B9DF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A40D0-A83D-4CD9-A635-C56A044A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TEST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3CA43-7800-43DA-AF42-2B527CE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C2E32-1800-42EB-8B96-8AF5E42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F07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8F07B"/>
                </a:solidFill>
                <a:latin typeface="Aptos Display"/>
                <a:ea typeface="Aptos Display"/>
                <a:cs typeface="Aptos Display"/>
              </a:rPr>
              <a:t>$79–149 / 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737EA-DA1E-4380-B6F1-9F602933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Defined students, session history, shareable reports, annotation, and accuracy/quality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73498-1432-4C65-8C89-2790D295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6685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912CD-3752-4402-8A84-4CC931AB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1371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F9CE9-C1EE-41D2-9353-B1BE816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43075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STRONGEST B2B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5E568-2C92-4A7C-93F5-990590A3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52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Facility / bay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505A4-CB72-4988-9F2F-1BF38EEE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rPr>
              <a:t>$200–500 / 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146D1-CEAA-46CD-92CC-16F7C4F7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956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Fixed-rig software, setup support, team access, usage reporting; hardware sold at cost or leased.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8C4D9-5D90-4D33-AE80-E88926CB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66850"/>
            <a:ext cx="3524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627AD-A214-4E78-9350-CB0CCA38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3B08C-1D0C-400A-B710-9BFDA60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430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3318E0-46CB-471D-B4B3-D99CC96A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Consumer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AD46FE-F8C1-48E5-906A-0044904B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44A3A"/>
                </a:solidFill>
                <a:latin typeface="Aptos Display"/>
                <a:ea typeface="Aptos Display"/>
                <a:cs typeface="Aptos Display"/>
              </a:rPr>
              <a:t>$10–20 / 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3615E-6E7B-4B2C-8E4D-8A67D0A5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Only after setup is under five minutes and self-serve accuracy approaches the fixed-rig experience.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2B8E5-B2CC-4017-BC25-A79C6F74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0100"/>
            <a:ext cx="5429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DB9F7-7ECD-4E63-9DB5-6B0BB7C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493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BOTTOM-UP SCENARIO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BB7D57-4382-4EFA-A386-8CC03C50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100 locations × $250/mo = $300k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73787-277C-4C2E-8E36-24E87884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0100"/>
            <a:ext cx="5429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0E85D-38A5-480E-8D93-E6E57B10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93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SCALE SCENARIO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9E29F5-C37F-45CA-9498-58356F38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1,000 locations × $250/mo = $3M ARR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1DEF1-9A7E-4A4F-A9DE-A36911F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Facility SaaS is a credible wedge, but venture scale requires more value per location, more bays, consumer expansion, international reach, or OEM/licensing.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B6BEE-D908-47F9-83BF-3EDE8F3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2373750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CDF9D-76B6-47FD-9DE4-C71BAA42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FOUNDER-LED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D95BE-F786-4D45-A432-7618027A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Turn outreach into a measurable learning funnel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F5457-F769-4B03-B69D-CA89B05E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27820-D06E-4C3A-99BB-3B3A1814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334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53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55ED2-07BC-4077-A2E4-F0F2D446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B9EFF-BA18-4D6F-BDF8-B692D956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95450"/>
            <a:ext cx="784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interviews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EB84F-2F26-4E6A-85EF-B9C573C6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00300"/>
            <a:ext cx="752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D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3F385-EC56-4174-A582-2114A40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5146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1B582-5DA8-4945-A640-5FAD3992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09850"/>
            <a:ext cx="603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 pilot 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AF13C-805E-432F-9678-D1375808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1470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4464A-85D8-423B-9611-F1B565CB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429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5C287-4D57-4D56-9EE0-F0A1C8B4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242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installed design partners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00F74-D957-412C-904E-E28A2186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22910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D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E3F9D-859F-4700-9869-0B928C27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434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8F07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8F07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33D12-F168-42D9-9C7B-F575BAE9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3865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 or renew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2E7BC-56E1-474F-B108-0DB2D8A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85900"/>
            <a:ext cx="1295400" cy="34290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91F23"/>
          </a:solidFill>
          <a:ln xmlns:a="http://schemas.openxmlformats.org/drawingml/2006/main" w="9525">
            <a:solidFill>
              <a:srgbClr val="3440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9D4AD-F196-4C18-BC95-0BB09886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6954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FB75B-7BFD-459C-8D69-FE8AD03E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076450"/>
            <a:ext cx="95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First valid shot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Weekly active locations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Shots / location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Support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CAD3D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AD3D7"/>
                </a:solidFill>
                <a:latin typeface="Aptos"/>
                <a:ea typeface="Aptos"/>
                <a:cs typeface="Aptos"/>
              </a:rPr>
              <a:t>60-day renewal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8EE3C-DDCF-4309-89AA-C9DC8664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953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D20"/>
          </a:solidFill>
          <a:ln xmlns:a="http://schemas.openxmlformats.org/drawingml/2006/main" w="9525">
            <a:solidFill>
              <a:srgbClr val="3440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07896F-4074-47E8-84AE-9FA3CFFB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Recommended channels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D84DD6-B906-4D71-9818-D92B37E8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626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coaches + university teams · independent ranges · fitting studios · simulator operators · warm introductions from golfers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5B3AA-B2F5-41D3-80BD-74C906CA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4204699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5972C-3B5A-422B-92AD-FF46CD34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CAREER + FOUNDER FLYWHEEL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FEFDE-0271-47E8-94AA-02FF800D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The same proof improves both the company and your résumé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2C37C-5C30-4E43-8602-86E9F44B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59E9D-A3F6-4F28-AFF8-E135EA7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5D58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C95D5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0702C1-7AB6-4C11-90BC-07B7714B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90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Validation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3F009-1DF5-40CF-B188-CA844F24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906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Matched shots, honest error distributions, failure analysis, held-out results.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7D0F2-E93F-4E43-BDE7-2DA7349C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38350"/>
            <a:ext cx="977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EE9BC-D337-421B-85EF-86ED26DF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C7C46-DF8D-47D3-90BD-359F6162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Deployed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384F9-E948-4C85-9511-34B4BEB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Real installation, activation, reliability, privacy, and unit-cost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686A6-F7B2-41D4-99DC-4D4CEF3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977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7CB3E-CCD1-4D6D-84A3-22C9DCAE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ECDF8-AC8F-4629-8CA6-AA9BBB69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Engineering case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2EF7F-F1C5-43CF-A3DF-1157E236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Stereo calibration, timing, tracking, uncertainty, physics tradeoffs, and iteration.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A9C6F-CD2B-4F6D-BFFD-F43EE84B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977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9C40D-6F53-4BD6-A545-B31BE227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127FE-1946-4393-9036-3504F2AD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Production discipline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6ED13-3EF0-45AE-A378-336E41B0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95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CI, E2E, observability, auth, deletion, bounded jobs, versioned models.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C1DF8-D2BB-4B4E-B5FC-C24349C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772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AC4BE-4F1E-476F-9B7B-C65F85D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2217E-7881-45B6-91A1-DC420309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Customer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07697-44CC-485F-B465-596EAF27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Interviews, paid pilots, retention cohorts, referrals, and a narrow ICP.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03176-E8EB-4EE1-BB10-77F20C69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5537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F2236D-47AD-4F8E-A99D-0367B76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17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polished 3D range is impressive. A benchmarked, deployed system with retained users is exceptional.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74536-8805-4C13-B1F2-FAFA9A3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2634954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0FC0B-9E72-4D47-AE55-D2206A01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12–18 MONTH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1C35B-72E5-47FB-BBB2-2962E19C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Earn each expansion with a measurable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3ADF8-AF9B-4984-9F42-7B3E1C78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F39F0-C9DE-4B65-8D54-1A0C9D56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04950"/>
            <a:ext cx="257175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AFE24-3257-420C-81F8-70FE994F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3FE6A-B7D2-4B2C-8AC9-EF2CA385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Q3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09F15-CF09-4D62-913A-73AD215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Prove the instrument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2B5CA-E6B1-490D-AC2B-2ACCA53C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1526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0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9750C-B74A-4FC2-BA0A-6F1AE04D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152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Freeze capture spec · 500 paired shots · 30 interviews · 3 pilot commitments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7CE18-F8DB-45B0-910A-0659AFEC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D3680-395D-420C-8D35-0C2BCEBA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 gates + pilot demand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F507E-FD0B-448D-B582-AA1865FF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ED81E-9859-4476-BC7D-DE70E23B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04950"/>
            <a:ext cx="257175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6B988-4BB6-4161-8A9D-9636D5BC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33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6C8B8-A333-4414-A4DF-2B12841A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Q4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47B3F-6525-4CC8-AF7F-ED2F1472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098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Prove the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4825A-859F-44D2-A16E-3DCB095E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90850"/>
            <a:ext cx="21526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F0F7B-4E9D-4E4A-B75C-CE09A596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2152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3–5 installs · 50 golfers · 1,000–1,500 paired shots · first payments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E64D6-4390-433B-85BB-FF13A546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2915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CCBF6-3B78-4470-97E8-A90499D2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768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4/5 weekly active; 3 pay/renew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1EF47-812E-41DB-9240-3662F8C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98620-9ECF-413A-847D-EF6EDF4D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257175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CBF9D-F645-433A-B8BF-BB4F125D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33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E41E-97D5-4EF1-AE37-31F59F98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81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H1 2027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1442B-0485-4D92-8712-1B72BC9D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Prove retention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350853-B7D8-4A37-A226-49DD86CE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21526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1CCB4-1597-462D-9D60-209EA88E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38500"/>
            <a:ext cx="2152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10–20 paying accounts · validation report · case study · referrals · repeatable setup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21275D-25F5-49F2-A25A-5272AA47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654D0-2579-4E68-8EB5-F8C85003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768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$3–5k MRR; ≥80% 90-day location retention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FD96F-5FC4-4895-A345-BE9FE2AF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14700"/>
            <a:ext cx="28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8D989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2D4CB-0C71-4476-B810-9289BE41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571750" cy="4095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A3B072-9D30-43B0-8341-9E8C449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33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9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82EF91-0D38-43BA-8336-4C4F33FD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811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0E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D0E11"/>
                </a:solidFill>
                <a:latin typeface="Aptos"/>
                <a:ea typeface="Aptos"/>
                <a:cs typeface="Aptos"/>
              </a:rPr>
              <a:t>H2 2027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193D00-A624-4C34-AEF1-C6A1C9C1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Prove scale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D10AED-E35B-4327-AB66-C132309D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21526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999825-184D-421B-BD2F-7622E99C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38500"/>
            <a:ext cx="21526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25–40 locations · regional operator · installation kit · acquisition payback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B55DB4-EABB-4424-A19E-91B7A572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62915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DAC2EA-AEA4-44BC-8D49-D3B203A7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$8–12k MRR before larger raise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ED956A-CD13-41B7-98C3-8186636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48350"/>
            <a:ext cx="111442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ED45A0-1A55-422D-80E9-D6C8D44B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80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Consumer launch gate: setup &lt; 5 min, first trustworthy result in one visit, fixed-rig-like accuracy, and meaningful week-4 practice retention.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FF0FB0-E9D9-4C8E-B2BF-33D7FD9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4944272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EC3FE-F401-47A6-83B0-153CA7D5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COFOUNDER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001B6-6341-4598-8E8B-215A1106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Apply solo; recruit only around a demonstrated bottleneck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FF18-2A90-4D5E-8C6E-2FF03DE6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C658B-D22B-4793-8555-7742C4D7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28750"/>
            <a:ext cx="3486150" cy="40767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123C5-4EBF-4E03-BF59-1AAD9BA7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DECISION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04B63-4138-47CB-B21C-B74E836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 not recruit for YC optics.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CEFEC-D6F0-4F10-B1E0-8E504606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YC accepts solo founders. A rushed founder choice is far more expensive than applying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F9E40-4D5A-4455-A9EB-E44D6E4B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8AFC7"/>
                </a:solidFill>
                <a:latin typeface="Aptos"/>
                <a:ea typeface="Aptos"/>
                <a:cs typeface="Aptos"/>
              </a:rPr>
              <a:t>Use YC Co-Founder Matching, trusted technical communities, and golf-industry referrals—but test by working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871D-6BB2-4420-B693-FC011BE5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3486150" cy="40767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56CBF-EA43-4967-9E96-3DA4E653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954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IF ACCURACY IS THE BOTTLENECK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6CC2B-A3A5-4485-BA4B-245F5FF6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CV / calibration / applied-physics builder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796778-99A8-4672-9500-7336A5B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952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Look for hands-on high-speed vision, stereo geometry, uncertainty, experimental design, and willingness to own ugly capture failures.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15080-6E1F-472D-A15F-9AE0DE4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28750"/>
            <a:ext cx="3524250" cy="407670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2E7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9DC1F-12EA-43F2-AF86-08EB44BE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9545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39A6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39A62"/>
                </a:solidFill>
                <a:latin typeface="Aptos"/>
                <a:ea typeface="Aptos"/>
                <a:cs typeface="Aptos"/>
              </a:rPr>
              <a:t>IF DISTRIBUTION IS THE BOTTLENECK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F2547-FCCC-4EA2-B814-82FCEF65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Golf operator / seller-builder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F96C4-DF65-41F9-84F0-5640F22C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3028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Look for the ability to close pilots, install rigs, earn coach trust, support users, and translate field failures into product decisions.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792DF-DA39-482B-A34D-3DAA3E2E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72150"/>
            <a:ext cx="11144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21F88-F204-4E7C-8EDB-BCB0E310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4–6 week working trial: interview → close pilot → install → benchmark → handle failure → decide full-time commitment and equity.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F7085-09B8-487B-8937-FEF48235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2154833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E5B6C1-8F51-499B-ADD1-847C256D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YC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B773D-0F13-4CC5-A940-2C74F0BD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Apply to Fall 2026—if you are ready to go full-time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51B49-02CE-4802-BE60-FDA5BA07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E94E4-2BA9-42BF-97A4-4215A796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4095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19050">
            <a:solidFill>
              <a:srgbClr val="B8F07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71CE3-9977-45F9-8B05-9F30DF3B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ON-TIME DEADLINE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25A62-D60F-41C3-AB4B-E008E4F3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42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July 27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8:00 p.m. 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CD009-2CD0-44CB-BE20-DF8E73C7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429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0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F1DB4-B4ED-4707-A0AE-76B7B9A0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E2DD"/>
                </a:solidFill>
                <a:latin typeface="Aptos"/>
                <a:ea typeface="Aptos"/>
                <a:cs typeface="Aptos"/>
              </a:rPr>
              <a:t>Fall batch: October–December 2026 in San Francisco. On-time decision by August 28.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2D260-6C13-4EC5-824F-490ED593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Current deal: $500k — $125k for 7% + $375k uncapped MFN 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AA865-BBB9-4DE3-AC6F-F132D6E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90650"/>
            <a:ext cx="6762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B2226"/>
          </a:solidFill>
          <a:ln xmlns:a="http://schemas.openxmlformats.org/drawingml/2006/main" w="9525">
            <a:solidFill>
              <a:srgbClr val="3440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D2FA5-39E2-42D2-88D3-E8D20477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76400"/>
            <a:ext cx="622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8AF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8AFC7"/>
                </a:solidFill>
                <a:latin typeface="Aptos"/>
                <a:ea typeface="Aptos"/>
                <a:cs typeface="Aptos"/>
              </a:rPr>
              <a:t>APPLICATION 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B4C29-8ED6-4DFD-AED7-ECA5A7F1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One-liner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71C3F-5BF0-4FC8-BCD1-0D0E7E3E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launch monitor for coaches and ranges using two fixed cameras.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05EA-053E-4625-9DB6-511EF05D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6172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E4DA4-3DDE-4593-895C-D14EC67A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860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58EDD-6F4D-4AC6-83D2-D305DBB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Uncut real workflow; show diagnostics and an honest failure / rejection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50B5D-68E0-4C16-AAFD-D1E3E4C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6172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8A400-ABBF-4A5A-A60C-51290EB0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Numbers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09A31-A111-4846-9967-A723F544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 paired shots, error, pilots, weekly use, revenue—not local dev sessions.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B5D70-0425-411C-A54E-0F948849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71900"/>
            <a:ext cx="6172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8696C-18FA-4B8C-9371-C39C7E7B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05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Weakness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7EE825-3C91-4BDA-BE81-B8FF621E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that capture geometry and full-flight physics are being benchmarked.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035BF-0019-4593-8F53-56334F7B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81500"/>
            <a:ext cx="6172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3B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CFA5A-2469-4013-8C7B-852133EA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148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CA3B9A-7032-4FB6-8EFE-F354515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improving after submission; updates and interview progress matter.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BA4EE5-C2BC-4449-B59A-4E2CE6B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111442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1D20"/>
          </a:solidFill>
          <a:ln xmlns:a="http://schemas.openxmlformats.org/drawingml/2006/main" w="9525">
            <a:solidFill>
              <a:srgbClr val="34404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5ADF5-E82D-4165-B8D9-0A04FC5A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76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Apply now; do not wait for perfection or a cofounder. But do not apply for prestige if you would not commit full-time and attend the batch.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052CE-D0CE-4445-9359-805D9657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055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Sources: ycombinator.com/apply, /faq, /deal, /interviews, /video — accessed 14 Jul 2026.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7B647A-6EA9-4E20-A986-8D71ED19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8284859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CCE50-B994-4FBE-8DF0-0B15100E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RISKS + NON-NEGOTIABLE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9A8E1-A70D-4660-AFBF-3DE380C6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Five risks can kill the company before competition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28CE2-3E9D-4CF7-B04A-3EF0C6F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72308-57E8-4235-9E9A-31C3250D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E2E0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4FD9D-E15C-40A4-938D-EB91F192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95D58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C95D58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E6839-B7B8-43D3-96D7-985C03D4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859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F26F0-6F86-458B-9AD5-3DFEADC4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4668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One confident wrong carry destroys credibility.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5FC76-AE57-47DA-A34A-6C269FA7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6685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Benchmark, calibrate confidence, and reject uncertain shots.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B02D1-D130-427F-81A2-BA2E9B57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290DB-4665-4EF7-B568-EEA69AFE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625DC-541C-4C1F-8B90-FF88A5F0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193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Capture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78EED-1602-4DA6-88CE-B72215D2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0030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Two phones + calibration are too hard for mass self-serve.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A38DD-A31D-4CE6-8D14-88178C10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Begin with fixed rigs; direct-capture companion later.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E166B-B894-4BAA-A086-B2E888A5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B0E26-DECE-464C-B756-80ABB93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44FA7-0311-4F8D-8FD3-1DA8AF82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DF52A-F855-449C-85B2-B0F6C34F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Uploaded video/audio and future pose features create sensitive-data duties.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01411-8DEA-427E-A100-EF86906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Adults first; consent, deletion, short retention, separate training opt-in.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16285-F0DD-4586-AC60-D1669ABD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5290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97739-087F-4F03-A218-53ACF54A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B3C98-A6F7-4A2D-83EC-645583C6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Brand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A21B8-5E38-44F6-8BDE-36A73A30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Existing commercial uses and a third-party trademark record create clearance risk.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1E5EC-A56E-4F79-8BA5-D7601E20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Verify the USPTO record and domains with counsel before spending on the name.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69574-25A8-436F-8AF1-C122D142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8635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9525">
            <a:solidFill>
              <a:srgbClr val="CDD4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38C131-7354-4519-89F4-67BEAA6F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28853D-CE59-4D27-8FE4-3773A91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Venture 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EC820C-9175-4525-9BB6-072A5631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00650"/>
            <a:ext cx="358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A small coach utility can be good but not venture-scale.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DFAB7-3C4F-4DD0-9AAA-01C5A62E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0065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Use B2B wedge to earn expansion into multi-bay, consumer, network, or licensing.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D2E4F-D96F-4C96-8FFF-B83E1BBE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34100"/>
            <a:ext cx="11125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EB87E-3197-447D-93CD-1F4ED4D7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10782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No-go rule: if accuracy cannot meet the fixed-rig gates, narrow the product claim before scaling users or fundraising.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2F783D-D7DD-4DFF-8F9E-8B74B6FD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5030266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0E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4AB96-A111-4A9F-A875-C165AEF3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FOUNDER OPERATING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83515-DED6-4BD6-928B-9D924CB5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to do in the next seven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A7429-AFC9-4D98-BEBF-A27A102F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98AFC7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2D259-E1C0-4B34-9CEC-CD8C089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52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814DF-8802-4ABC-8880-C5A77752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09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A3209B-3A01-4221-99FC-93B7F91D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43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Book TrackMan/GCQuad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4C4BC-A724-4E4D-B39B-4E62C8BF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EBAC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EBAC0"/>
                </a:solidFill>
                <a:latin typeface="Aptos"/>
                <a:ea typeface="Aptos"/>
                <a:cs typeface="Aptos"/>
              </a:rPr>
              <a:t>Coach, fitter, simulator facility, university lab, or range.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05ADB-9B38-4654-A0D2-BD7BC2C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19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81A42-2556-425D-8A1B-E8B1BD34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76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4000B-D8EA-44D2-A7AF-10F1D444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Freeze one supported rig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D8A6F-5AF7-4B25-8920-94D2B59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EBAC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EBAC0"/>
                </a:solidFill>
                <a:latin typeface="Aptos"/>
                <a:ea typeface="Aptos"/>
                <a:cs typeface="Aptos"/>
              </a:rPr>
              <a:t>Phones, lenses, 240 fps source, mounts, baseline, orientation, light.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F1161-B8C3-4C0D-BC9D-FDD2ACD9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86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F0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4C08D-29C2-48D6-9622-063DD54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43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29F64-B09B-4DBF-876C-330AB0C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 public-demo P0s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25FA9-8A19-40C4-8277-2D928F96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EBAC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EBAC0"/>
                </a:solidFill>
                <a:latin typeface="Aptos"/>
                <a:ea typeface="Aptos"/>
                <a:cs typeface="Aptos"/>
              </a:rPr>
              <a:t>Demo ID, metric gauges, hardcoded telemetry, Course nav, stale README.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F80E0-5FFD-45D2-A3F7-89F5DFED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13125-2B38-4FCD-B7D2-7860CA7D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101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B6213-B3D7-4F00-B390-3E259A0B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Start 15 interviews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8DD0C-2D60-431E-AA9D-2BCEAD34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EBAC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EBAC0"/>
                </a:solidFill>
                <a:latin typeface="Aptos"/>
                <a:ea typeface="Aptos"/>
                <a:cs typeface="Aptos"/>
              </a:rPr>
              <a:t>Ask about the last real problem; request a pilot or deposit.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DC7F7-11FD-4904-9FEE-3572B23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D2047-3425-4510-A9E9-2722005D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097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AD5DE-156D-4A4D-B1F1-E689C5A0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430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Create benchmark schema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9282D-4BAD-4DFB-8FF0-6331F8A1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1925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EBAC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EBAC0"/>
                </a:solidFill>
                <a:latin typeface="Aptos"/>
                <a:ea typeface="Aptos"/>
                <a:cs typeface="Aptos"/>
              </a:rPr>
              <a:t>Reference inputs, calibration ID, capture fingerprint, code/model version.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962BF-5B82-49C5-B29B-F1765DF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75B38-68B1-4DA8-9A72-55D5EAC6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FC8028-771D-43A8-8CC0-A3E7F5B4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98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Draft YC application + 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1195A-1949-404D-9301-CEA8A9EE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EBAC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EBAC0"/>
                </a:solidFill>
                <a:latin typeface="Aptos"/>
                <a:ea typeface="Aptos"/>
                <a:cs typeface="Aptos"/>
              </a:rPr>
              <a:t>Exact, honest, concise; show the real product separately.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78FBAC-80FC-417C-9A48-D2A1FEAF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AF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140C42-5EE9-493B-946C-40296CB5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263FE2-7774-422C-A93D-4F0DF72D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7662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 the founder commitment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9C0B9-61F7-4215-AE4F-BF49FEDB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52850"/>
            <a:ext cx="4838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EBAC0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EBAC0"/>
                </a:solidFill>
                <a:latin typeface="Aptos"/>
                <a:ea typeface="Aptos"/>
                <a:cs typeface="Aptos"/>
              </a:rPr>
              <a:t>Decide whether you will go full-time and attend SF if accepted.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78811-86E7-462B-9CFD-30823F5C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5238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4A3A"/>
          </a:solidFill>
          <a:ln xmlns:a="http://schemas.openxmlformats.org/drawingml/2006/main" w="19050">
            <a:solidFill>
              <a:srgbClr val="B8F07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41E5C-FB90-4BFF-94CC-7049BC07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1100"/>
            <a:ext cx="478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8F0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F07B"/>
                </a:solidFill>
                <a:latin typeface="Aptos"/>
                <a:ea typeface="Aptos"/>
                <a:cs typeface="Aptos"/>
              </a:rPr>
              <a:t>THE 90-DAY QUESTION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24DBC7-D5DC-48F3-9223-59767F8E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76850"/>
            <a:ext cx="478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Can Golfie produce trusted data that a coach or range will pay to use repeatedly?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E9E681-2008-4AD4-AB81-99BDB7BC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B4B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AB4B9"/>
                </a:solidFill>
                <a:latin typeface="Aptos"/>
                <a:ea typeface="Aptos"/>
                <a:cs typeface="Aptos"/>
              </a:rPr>
              <a:t>Golfie · Build proof, then earn scope</a:t>
            </a:r>
          </a:p>
        </p:txBody>
      </p:sp>
    </p:spTree>
    <p:extLst>
      <p:ext uri="{BB962C8B-B14F-4D97-AF65-F5344CB8AC3E}">
        <p14:creationId xmlns:p14="http://schemas.microsoft.com/office/powerpoint/2010/main" val="9223350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F2B633-871C-48F4-8303-01E03F7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APPENDIX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ABF2B-99A0-4C56-8176-70D03336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Selected repository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3CB84-66E6-4136-A191-B63022F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FF665-5F94-4F92-B9D0-9C354B83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90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5D5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D58"/>
                </a:solidFill>
                <a:latin typeface="Aptos"/>
                <a:ea typeface="Aptos"/>
                <a:cs typeface="Aptos"/>
              </a:rPr>
              <a:t>Physics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F733E-5A1F-4CF5-AB91-39C78098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8112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golfie_physics/fitting/__init__.py:88–137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5F372-F177-4D2F-AC18-632CFEDC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620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Fixed drag; lift disabled; residual-based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FE79A-3D10-4639-A9A7-938014F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AFA38-2E02-48A4-B689-55A6A5BD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14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5D5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D58"/>
                </a:solidFill>
                <a:latin typeface="Aptos"/>
                <a:ea typeface="Aptos"/>
                <a:cs typeface="Aptos"/>
              </a:rPr>
              <a:t>Magnus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A1178-ECD0-49A7-8C2B-710E2520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050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golfie_physics/models/projectile.py:97–108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3D4DD-1217-4DA0-95B4-E4BFA0A6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Experimental lift direction ignores spin magnitude.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9944D-2CAC-41AD-BC16-3C8076F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57425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BE2A0-3364-4EEC-ACC6-F7731F7B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384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5D5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D58"/>
                </a:solidFill>
                <a:latin typeface="Aptos"/>
                <a:ea typeface="Aptos"/>
                <a:cs typeface="Aptos"/>
              </a:rPr>
              <a:t>Triangulation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766D9-F3C4-4372-A494-DBA68041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288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golfie_cv/triangulation/__init__.py:195–218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1B752A-E03D-4323-A554-AFFAEE79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98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Match correction and permissive reprojection limit.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C8BBD-4EE6-4AFA-8C52-4D4DC7FF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81300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62C27-CED2-4A06-AEF1-9A1D102A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622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5D5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5D58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9119C3-318F-4A69-AA0C-FA1A56A7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golfie_api/pipeline.py:536–543, 612–627, 748–812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7475DF-8333-44C4-BD23-BBF39350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337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40 px override; first point origin; drag-only carry + heuristic roll.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010DD-EE19-4834-A640-E2E121CE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05175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24A08-7A74-491E-83E0-5C3E89F6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86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Calibration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7B082-CCD0-40A1-ADC8-9DDBD8AD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data/calibration/active_calibration.json:188–206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1F4DA-A97D-4A1E-9E0A-B8E1C6A7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575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No measured baseline; three validation frames.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480F3-C6A4-48F3-9729-19EDF3C4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ABB01-5FB3-434B-A865-3003B970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100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Latest driver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EF2B7-0141-4F2F-9459-A6FC5F5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005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data/shots/124e23d2a7a6/processing.log:20–34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3C1BC-BA73-44D6-9BD7-62792B63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Four points, 12.5 ms span, 11.26 px median reprojection.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D5423-C1AF-4D08-B495-160D74D5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52925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98FE96-B346-4826-9AA3-3C7E8C7C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33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Simulator 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A63F5-1364-471B-BBA8-2F7831EB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243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ShotSimulatorView.tsx:136–160; MetricCard.tsx:15–31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357AD-398D-4067-8033-FB91879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Hardcoded telemetry; raw-unit gauge semantics.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2E0B15-A3FD-4327-AB06-E128DE1D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76800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9E42D4-4623-4BAF-AB67-A1328668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577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04F83-594A-4A73-9A2D-51CD3242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482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sessions.py:199–242, 321–359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390A73-5C0B-4464-8C4F-ABCF4520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Unauthenticated listing/fetching; unbounded uploads.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DCC9A3-C7CA-4F6A-A5F1-4AAB4884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00675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4D15D8-8DA7-4E4E-AEE9-FD3842A0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81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8DE933-8CEF-41A0-92A4-1AA70621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7212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243039"/>
                </a:solidFill>
                <a:latin typeface="Aptos Mono"/>
                <a:ea typeface="Aptos Mono"/>
                <a:cs typeface="Aptos Mono"/>
              </a:rPr>
              <a:t>generate_sample_session.py:91; ShotSimulatorView.tsx:27,165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E60E0-98CD-4D36-A7E0-E9F12BB7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5307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sample-demo-shot vs sample mismatch.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27D988-B625-4435-B341-291DB7B3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108966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DD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1D387C-F705-4E60-B052-0F401705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10896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8FC57F-CBD3-4039-9CB0-B30CAD75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38875"/>
            <a:ext cx="1062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Audit verification: 69 tests pass; frontend lint/build pass; browser visual QA unavailable in this environment and should be repeated manually.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BE716C-CEB2-4CEE-A842-158FC413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8976388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A6434-F165-4A41-AE3F-36A6E187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658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B6584"/>
                </a:solidFill>
                <a:latin typeface="Aptos"/>
                <a:ea typeface="Aptos"/>
                <a:cs typeface="Aptos"/>
              </a:rPr>
              <a:t>APPENDIX B · ACCESSED 14 JUL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CB647-A23A-41C2-B7E6-FC41B5F3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33400"/>
            <a:ext cx="1122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417"/>
                </a:solidFill>
                <a:latin typeface="Aptos Display"/>
                <a:ea typeface="Aptos Display"/>
                <a:cs typeface="Aptos Display"/>
              </a:rPr>
              <a:t>Research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83813-3691-416F-8D34-259002C0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8D989F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00989-B261-44C6-AED6-BD6E1763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14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YC application + timing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1DD71-AE5B-4E3E-A92D-B53B9FFA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00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https://www.ycombinator.com/apply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68DC0-AA2F-474E-A209-3C6683DE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14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YC FAQ: stage, solo founders, full-time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3E0D-9250-48C6-88CD-27E878C2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00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https://www.ycombinator.com/faq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E60E2-8F65-4503-86EA-9ED933E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14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YC standard deal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BE360-DA5D-440A-85AA-6E4F3BEE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004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https://www.ycombinator.com/deal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5BB91-5D4D-4A48-8ACD-FAA22AD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YC interview + video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F4429-9A98-4080-81E9-56D38454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https://www.ycombinator.com/interviews · https://www.ycombinator.com/video/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A4B1A-1094-47E3-8A76-FCB35E1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14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NGF U.S. golf participation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34B31-5731-45B5-95CB-36B02537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006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https://www.ngf.org/the-clubhouse/golf-industry-research/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C133B-F8F4-4917-9CCC-41A01E71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14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NGF simulator opportunity (Apr 2025)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455DE-8DE3-4E00-8683-FABB291F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007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https://www.ngf.org/wp-content/uploads/2025/04/2025-NGF-White-Paper-The-Golf-Simulator-Opportunity.pdf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DAE66-2633-47E9-984F-527A490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TrackMan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9184F-5EB1-410A-9533-A1966ED1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https://www.trackman.com/golf/launch-monitors/get-your-own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681F6F-05B4-42BD-8832-DC320FC4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Rapsodo MLM2PRO 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A9061-BB06-488E-AD84-9E2259D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https://rapsodo.com/products/mlm2pro-mobile-launch-monitor-golf-simulator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F9731-BEA0-4439-8956-03E2BC9B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Sportsbox / Shot Tracer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18F34-6153-43E5-9962-A95C899E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https://www.sportsbox.ai/ · https://www.shottracerapp.com/android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858A1-A723-49AC-AA82-096997F0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14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Measurement validity study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F0565-74A9-48B7-A1AC-4383B4E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https://repository.lboro.ac.uk/articles/journal_contribution/9562799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177CD-F30B-4E26-A935-CAB2295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FTC biometric policy + COPPA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9E62D2-5D45-446E-A6A2-3B4C49C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006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https://www.ftc.gov/legal-library/browse/policy-statement-federal-trade-commission-biometric-information-section-5-federal-trade-commission · https://www.ftc.gov/business-guidance/resources/complying-coppa-frequently-asked-questions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0255A-A31A-4572-B31A-87D23FD3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14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7"/>
                </a:solidFill>
                <a:latin typeface="Aptos"/>
                <a:ea typeface="Aptos"/>
                <a:cs typeface="Aptos"/>
              </a:rPr>
              <a:t>Brand-risk examples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F732B3-F128-49F6-97CB-05CC341C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4B6584"/>
                </a:solidFill>
                <a:latin typeface="Aptos Mono"/>
                <a:ea typeface="Aptos Mono"/>
                <a:cs typeface="Aptos Mono"/>
              </a:rPr>
              <a:t>https://store.steampowered.com/app/1579020/Golfie/ · https://www.trademarkelite.com/trademark/trademark-detail/99171275/GOLFIE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DB756-FFF3-49EA-B738-E668A548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229350"/>
            <a:ext cx="11068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BEE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4FC06-B199-46E8-8C44-35BE592B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50"/>
            <a:ext cx="10801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30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3039"/>
                </a:solidFill>
                <a:latin typeface="Aptos"/>
                <a:ea typeface="Aptos"/>
                <a:cs typeface="Aptos"/>
              </a:rPr>
              <a:t>Market statistics are directional context, not proof of Golfie demand. Pricing and internal gates are hypotheses to test.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54BF6-D7C0-42A3-9CAC-51781BC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53200"/>
            <a:ext cx="731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D989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989F"/>
                </a:solidFill>
                <a:latin typeface="Aptos"/>
                <a:ea typeface="Aptos"/>
                <a:cs typeface="Aptos"/>
              </a:rPr>
              <a:t>Golfie strategy review · 14 Jul 2026</a:t>
            </a:r>
          </a:p>
        </p:txBody>
      </p:sp>
    </p:spTree>
    <p:extLst>
      <p:ext uri="{BB962C8B-B14F-4D97-AF65-F5344CB8AC3E}">
        <p14:creationId xmlns:p14="http://schemas.microsoft.com/office/powerpoint/2010/main" val="17219277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2026-07-14T21:47:50.9510000Z</dcterms:created>
  <dcterms:modified xsi:type="dcterms:W3CDTF">2026-07-14T21:47:50.9510000Z</dcterms:modified>
</coreProperties>
</file>